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(20s). Name, chapter, one framing line: this is a working proof of concept already running in our workshops, not a proposal. Don't preview content — the hook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0:20-1:00 (40s). PAUSE after the headline question before explaining it. Land on: hands-on builds procedural understanding, not mechanistic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1:00-1:45 (45s). Say the honesty line YOURSELF — don't wait for a judge to raise the age mismatch. Volunteering it reads as command of your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1:45-2:40 (55s). LOAD-BEARING SLIDE — this is the direct answer to 'is this bigger than your club?' Give each stat its own breath. Three pillars: scale, constraint, the specific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2:40-3:25 (45s). Keystone is card 1 — it describes OUR design, not just a favorable stat: combining beats either alone, biggest for abstract concepts. Don't dwell on any single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3:25-4:00 (35s). Pure design rule — evidence already landed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4:00-4:15 (15s) then LIVE DEMO 4:15-5:55 (100s).
RUN ORDER: (1) alt-tab to CPU vs GPU. (2) Point at both floorplans — same chip size, ~15% math vs ~80% math. (3) Click 'same instruction': all 128 GPU lanes light, CPU manages 4. Say: this is what training a model actually is. (4) Click 'different instruction': 127 lanes go dark. Say: one control unit can't issue 16 different instructions — this is why you don't reach for a GPU for everything. (5) Land the line, alt-tab back.
OPTIONAL STRETCH (+40s, decide BEFORE you go up): SSD vs HDD, one bump that crashes the head next to the unaffected SSD.
CUTOFF: if 1:10 in and you haven't made the second click, skip it and go to the landing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5:55-6:25 (30s). Move FAST — this slide proves range, it doesn't need selling.
VERIFY BEFORE YOU SPEAK: if only 10 are live, say 'ten live, five more landing shortly' — do NOT claim 15 live if 5 aren't.
If you did the SSD/HDD stretch demo, just gesture at it rather than re-explaining.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6:25-7:10 (45s). Strongest single claim in the pitch (dual-use) plus the equity stat. Give both boxes room — don't rush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7:10-7:45 (35s). One breath per card, then straight to closing. Dwelling undercuts the confidence the honesty was meant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7:45-8:00 (15s). Name the category and the four phases explicitly. Then STOP — don't fill the buffer with 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part of the scripted run. Flip here only if a judge asks for the full source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part of the scripted run. Fast-lookup for rapid-fire follow-ups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SLIDE — the four prompts here are the ones only you can answer. Replace each italic hint with your real answer, or delete this slide entirely before presenting. Do not show it 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620"/>
        </a:solidFill>
      </p:bgPr>
    </p:bg>
    <p:spTree>
      <p:nvGrpSpPr>
        <p:cNvPr id="1" name=""/>
        <p:cNvGrpSpPr/>
        <p:nvPr/>
      </p:nvGrpSpPr>
      <p:grpSpPr>
        <a:xfrm>
          <a:off x="0" y="0"/>
          <a:ext cx="0" cy="0"/>
          <a:chOff x="0" y="0"/>
          <a:chExt cx="0" cy="0"/>
        </a:xfrm>
      </p:grpSpPr>
      <p:sp>
        <p:nvSpPr>
          <p:cNvPr id="2" name="Shape 0"/>
          <p:cNvSpPr/>
          <p:nvPr/>
        </p:nvSpPr>
        <p:spPr>
          <a:xfrm>
            <a:off x="548640" y="502920"/>
            <a:ext cx="2606040" cy="365760"/>
          </a:xfrm>
          <a:prstGeom prst="roundRect">
            <a:avLst>
              <a:gd name="adj" fmla="val 50000"/>
            </a:avLst>
          </a:prstGeom>
          <a:solidFill>
            <a:srgbClr val="D97706"/>
          </a:solidFill>
          <a:ln/>
        </p:spPr>
      </p:sp>
      <p:sp>
        <p:nvSpPr>
          <p:cNvPr id="3" name="Text 1"/>
          <p:cNvSpPr/>
          <p:nvPr/>
        </p:nvSpPr>
        <p:spPr>
          <a:xfrm>
            <a:off x="548640" y="502920"/>
            <a:ext cx="2606040" cy="36576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EDUCATION CATEGORY</a:t>
            </a:r>
            <a:endParaRPr lang="en-US" sz="1100" dirty="0"/>
          </a:p>
        </p:txBody>
      </p:sp>
      <p:sp>
        <p:nvSpPr>
          <p:cNvPr id="4" name="Text 2"/>
          <p:cNvSpPr/>
          <p:nvPr/>
        </p:nvSpPr>
        <p:spPr>
          <a:xfrm>
            <a:off x="548640" y="2286000"/>
            <a:ext cx="105156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Janyaa Sim Lab</a:t>
            </a:r>
            <a:endParaRPr lang="en-US" sz="6000" dirty="0"/>
          </a:p>
        </p:txBody>
      </p:sp>
      <p:sp>
        <p:nvSpPr>
          <p:cNvPr id="5" name="Text 3"/>
          <p:cNvSpPr/>
          <p:nvPr/>
        </p:nvSpPr>
        <p:spPr>
          <a:xfrm>
            <a:off x="548640" y="3520440"/>
            <a:ext cx="9418320" cy="822960"/>
          </a:xfrm>
          <a:prstGeom prst="rect">
            <a:avLst/>
          </a:prstGeom>
          <a:noFill/>
          <a:ln/>
        </p:spPr>
        <p:txBody>
          <a:bodyPr wrap="square" lIns="0" tIns="0" rIns="0" bIns="0" rtlCol="0" anchor="ctr"/>
          <a:lstStyle/>
          <a:p>
            <a:pPr indent="0" marL="0">
              <a:lnSpc>
                <a:spcPct val="115000"/>
              </a:lnSpc>
              <a:buNone/>
            </a:pPr>
            <a:r>
              <a:rPr lang="en-US" sz="1900" dirty="0">
                <a:solidFill>
                  <a:srgbClr val="D8E4D3"/>
                </a:solidFill>
                <a:latin typeface="Calibri" pitchFamily="34" charset="0"/>
                <a:ea typeface="Calibri" pitchFamily="34" charset="-122"/>
                <a:cs typeface="Calibri" pitchFamily="34" charset="-120"/>
              </a:rPr>
              <a:t>Open-source simulations that show hands-on workshops the mechanism they can't hand you.</a:t>
            </a:r>
            <a:endParaRPr lang="en-US" sz="1900" dirty="0"/>
          </a:p>
        </p:txBody>
      </p:sp>
      <p:sp>
        <p:nvSpPr>
          <p:cNvPr id="6" name="Text 4"/>
          <p:cNvSpPr/>
          <p:nvPr/>
        </p:nvSpPr>
        <p:spPr>
          <a:xfrm>
            <a:off x="548640" y="5349240"/>
            <a:ext cx="9144000" cy="36576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IDENTIFY   ·   RESEARCH   ·   INNOVATE   ·   IMPACT</a:t>
            </a:r>
            <a:endParaRPr lang="en-US" sz="1300" dirty="0"/>
          </a:p>
        </p:txBody>
      </p:sp>
      <p:sp>
        <p:nvSpPr>
          <p:cNvPr id="7" name="Shape 5"/>
          <p:cNvSpPr/>
          <p:nvPr/>
        </p:nvSpPr>
        <p:spPr>
          <a:xfrm>
            <a:off x="548640" y="5989320"/>
            <a:ext cx="2011680" cy="0"/>
          </a:xfrm>
          <a:prstGeom prst="line">
            <a:avLst/>
          </a:prstGeom>
          <a:noFill/>
          <a:ln w="12700">
            <a:solidFill>
              <a:srgbClr val="3E6A4C"/>
            </a:solidFill>
            <a:prstDash val="solid"/>
          </a:ln>
        </p:spPr>
      </p:sp>
      <p:sp>
        <p:nvSpPr>
          <p:cNvPr id="8" name="Text 6"/>
          <p:cNvSpPr/>
          <p:nvPr/>
        </p:nvSpPr>
        <p:spPr>
          <a:xfrm>
            <a:off x="548640" y="6126480"/>
            <a:ext cx="7315200" cy="365760"/>
          </a:xfrm>
          <a:prstGeom prst="rect">
            <a:avLst/>
          </a:prstGeom>
          <a:noFill/>
          <a:ln/>
        </p:spPr>
        <p:txBody>
          <a:bodyPr wrap="square" lIns="0" tIns="0" rIns="0" bIns="0" rtlCol="0" anchor="ctr"/>
          <a:lstStyle/>
          <a:p>
            <a:pPr indent="0" marL="0">
              <a:buNone/>
            </a:pPr>
            <a:r>
              <a:rPr lang="en-US" sz="1300" dirty="0">
                <a:solidFill>
                  <a:srgbClr val="B9C9B4"/>
                </a:solidFill>
                <a:latin typeface="Calibri" pitchFamily="34" charset="0"/>
                <a:ea typeface="Calibri" pitchFamily="34" charset="-122"/>
                <a:cs typeface="Calibri" pitchFamily="34" charset="-120"/>
              </a:rPr>
              <a:t>Jay Kumar  ·  Janyaa STEM Outreach Chapter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40680" y="384048"/>
            <a:ext cx="1481328" cy="384048"/>
          </a:xfrm>
          <a:prstGeom prst="roundRect">
            <a:avLst>
              <a:gd name="adj" fmla="val 19048"/>
            </a:avLst>
          </a:prstGeom>
          <a:solidFill>
            <a:srgbClr val="1F4A2E"/>
          </a:solidFill>
          <a:ln/>
        </p:spPr>
      </p:sp>
      <p:sp>
        <p:nvSpPr>
          <p:cNvPr id="3" name="Text 1"/>
          <p:cNvSpPr/>
          <p:nvPr/>
        </p:nvSpPr>
        <p:spPr>
          <a:xfrm>
            <a:off x="5495544" y="384048"/>
            <a:ext cx="1371600" cy="38404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IDENTIFY</a:t>
            </a:r>
            <a:endParaRPr lang="en-US" sz="900" dirty="0"/>
          </a:p>
        </p:txBody>
      </p:sp>
      <p:sp>
        <p:nvSpPr>
          <p:cNvPr id="4" name="Shape 2"/>
          <p:cNvSpPr/>
          <p:nvPr/>
        </p:nvSpPr>
        <p:spPr>
          <a:xfrm>
            <a:off x="7013448" y="384048"/>
            <a:ext cx="1481328" cy="384048"/>
          </a:xfrm>
          <a:prstGeom prst="roundRect">
            <a:avLst>
              <a:gd name="adj" fmla="val 19048"/>
            </a:avLst>
          </a:prstGeom>
          <a:solidFill>
            <a:srgbClr val="E4E1D6"/>
          </a:solidFill>
          <a:ln/>
        </p:spPr>
      </p:sp>
      <p:sp>
        <p:nvSpPr>
          <p:cNvPr id="5" name="Text 3"/>
          <p:cNvSpPr/>
          <p:nvPr/>
        </p:nvSpPr>
        <p:spPr>
          <a:xfrm>
            <a:off x="7068312"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RESEARCH</a:t>
            </a:r>
            <a:endParaRPr lang="en-US" sz="900" dirty="0"/>
          </a:p>
        </p:txBody>
      </p:sp>
      <p:sp>
        <p:nvSpPr>
          <p:cNvPr id="6" name="Shape 4"/>
          <p:cNvSpPr/>
          <p:nvPr/>
        </p:nvSpPr>
        <p:spPr>
          <a:xfrm>
            <a:off x="8586216" y="384048"/>
            <a:ext cx="1481328" cy="384048"/>
          </a:xfrm>
          <a:prstGeom prst="roundRect">
            <a:avLst>
              <a:gd name="adj" fmla="val 19048"/>
            </a:avLst>
          </a:prstGeom>
          <a:solidFill>
            <a:srgbClr val="E4E1D6"/>
          </a:solidFill>
          <a:ln/>
        </p:spPr>
      </p:sp>
      <p:sp>
        <p:nvSpPr>
          <p:cNvPr id="7" name="Text 5"/>
          <p:cNvSpPr/>
          <p:nvPr/>
        </p:nvSpPr>
        <p:spPr>
          <a:xfrm>
            <a:off x="8641080"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INNOVATE</a:t>
            </a:r>
            <a:endParaRPr lang="en-US" sz="900" dirty="0"/>
          </a:p>
        </p:txBody>
      </p:sp>
      <p:sp>
        <p:nvSpPr>
          <p:cNvPr id="8" name="Shape 6"/>
          <p:cNvSpPr/>
          <p:nvPr/>
        </p:nvSpPr>
        <p:spPr>
          <a:xfrm>
            <a:off x="10158984" y="384048"/>
            <a:ext cx="1481328" cy="384048"/>
          </a:xfrm>
          <a:prstGeom prst="roundRect">
            <a:avLst>
              <a:gd name="adj" fmla="val 19048"/>
            </a:avLst>
          </a:prstGeom>
          <a:solidFill>
            <a:srgbClr val="E4E1D6"/>
          </a:solidFill>
          <a:ln/>
        </p:spPr>
      </p:sp>
      <p:sp>
        <p:nvSpPr>
          <p:cNvPr id="9" name="Text 7"/>
          <p:cNvSpPr/>
          <p:nvPr/>
        </p:nvSpPr>
        <p:spPr>
          <a:xfrm>
            <a:off x="10213848"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IMPACT</a:t>
            </a:r>
            <a:endParaRPr lang="en-US" sz="900" dirty="0"/>
          </a:p>
        </p:txBody>
      </p:sp>
      <p:sp>
        <p:nvSpPr>
          <p:cNvPr id="10" name="Text 8"/>
          <p:cNvSpPr/>
          <p:nvPr/>
        </p:nvSpPr>
        <p:spPr>
          <a:xfrm>
            <a:off x="548640" y="502920"/>
            <a:ext cx="8229600" cy="365760"/>
          </a:xfrm>
          <a:prstGeom prst="rect">
            <a:avLst/>
          </a:prstGeom>
          <a:noFill/>
          <a:ln/>
        </p:spPr>
        <p:txBody>
          <a:bodyPr wrap="square" lIns="0" tIns="0" rIns="0" bIns="0" rtlCol="0" anchor="ctr"/>
          <a:lstStyle/>
          <a:p>
            <a:pPr indent="0" marL="0">
              <a:buNone/>
            </a:pPr>
            <a:r>
              <a:rPr lang="en-US" sz="1300" b="1" spc="200" kern="0" dirty="0">
                <a:solidFill>
                  <a:srgbClr val="1F4A2E"/>
                </a:solidFill>
                <a:latin typeface="Calibri" pitchFamily="34" charset="0"/>
                <a:ea typeface="Calibri" pitchFamily="34" charset="-122"/>
                <a:cs typeface="Calibri" pitchFamily="34" charset="-120"/>
              </a:rPr>
              <a:t>IDENTIFY — FIND A REAL PROBLEM IN YOUR CITY</a:t>
            </a:r>
            <a:endParaRPr lang="en-US" sz="1300" dirty="0"/>
          </a:p>
        </p:txBody>
      </p:sp>
      <p:sp>
        <p:nvSpPr>
          <p:cNvPr id="11" name="Text 9"/>
          <p:cNvSpPr/>
          <p:nvPr/>
        </p:nvSpPr>
        <p:spPr>
          <a:xfrm>
            <a:off x="548640" y="841248"/>
            <a:ext cx="9692640" cy="914400"/>
          </a:xfrm>
          <a:prstGeom prst="rect">
            <a:avLst/>
          </a:prstGeom>
          <a:noFill/>
          <a:ln/>
        </p:spPr>
        <p:txBody>
          <a:bodyPr wrap="square" lIns="0" tIns="0" rIns="0" bIns="0" rtlCol="0" anchor="ctr"/>
          <a:lstStyle/>
          <a:p>
            <a:pPr indent="0" marL="0">
              <a:lnSpc>
                <a:spcPct val="102000"/>
              </a:lnSpc>
              <a:buNone/>
            </a:pPr>
            <a:r>
              <a:rPr lang="en-US" sz="3200" b="1" dirty="0">
                <a:solidFill>
                  <a:srgbClr val="1A1A1A"/>
                </a:solidFill>
                <a:latin typeface="Cambria" pitchFamily="34" charset="0"/>
                <a:ea typeface="Cambria" pitchFamily="34" charset="-122"/>
                <a:cs typeface="Cambria" pitchFamily="34" charset="-120"/>
              </a:rPr>
              <a:t>“Why does this survive a</a:t>
            </a:r>
            <a:endParaRPr lang="en-US" sz="3200" dirty="0"/>
          </a:p>
          <a:p>
            <a:pPr indent="0" marL="0">
              <a:lnSpc>
                <a:spcPct val="102000"/>
              </a:lnSpc>
              <a:buNone/>
            </a:pPr>
            <a:r>
              <a:rPr lang="en-US" sz="3200" b="1" dirty="0">
                <a:solidFill>
                  <a:srgbClr val="1A1A1A"/>
                </a:solidFill>
                <a:latin typeface="Cambria" pitchFamily="34" charset="0"/>
                <a:ea typeface="Cambria" pitchFamily="34" charset="-122"/>
                <a:cs typeface="Cambria" pitchFamily="34" charset="-120"/>
              </a:rPr>
              <a:t>drop and this doesn't?”</a:t>
            </a:r>
            <a:endParaRPr lang="en-US" sz="3200" dirty="0"/>
          </a:p>
        </p:txBody>
      </p:sp>
      <p:sp>
        <p:nvSpPr>
          <p:cNvPr id="12" name="Text 10"/>
          <p:cNvSpPr/>
          <p:nvPr/>
        </p:nvSpPr>
        <p:spPr>
          <a:xfrm>
            <a:off x="548640" y="2880360"/>
            <a:ext cx="6309360" cy="1828800"/>
          </a:xfrm>
          <a:prstGeom prst="rect">
            <a:avLst/>
          </a:prstGeom>
          <a:noFill/>
          <a:ln/>
        </p:spPr>
        <p:txBody>
          <a:bodyPr wrap="square" lIns="0" tIns="0" rIns="0" bIns="0" rtlCol="0" anchor="ctr"/>
          <a:lstStyle/>
          <a:p>
            <a:pPr indent="0" marL="0">
              <a:lnSpc>
                <a:spcPct val="130000"/>
              </a:lnSpc>
              <a:buNone/>
            </a:pPr>
            <a:r>
              <a:rPr lang="en-US" sz="1600" dirty="0">
                <a:solidFill>
                  <a:srgbClr val="1A1A1A"/>
                </a:solidFill>
                <a:latin typeface="Calibri" pitchFamily="34" charset="0"/>
                <a:ea typeface="Calibri" pitchFamily="34" charset="-122"/>
                <a:cs typeface="Calibri" pitchFamily="34" charset="-120"/>
              </a:rPr>
              <a:t>That question came up in one of our own computer-building workshops. Kids were handling a real hard drive and a real SSD — but nothing about holding them shows why one is far more rugged than the other. The mechanism is invisible.</a:t>
            </a:r>
            <a:endParaRPr lang="en-US" sz="1600" dirty="0"/>
          </a:p>
        </p:txBody>
      </p:sp>
      <p:sp>
        <p:nvSpPr>
          <p:cNvPr id="13" name="Shape 11"/>
          <p:cNvSpPr/>
          <p:nvPr/>
        </p:nvSpPr>
        <p:spPr>
          <a:xfrm>
            <a:off x="548640" y="4892040"/>
            <a:ext cx="6400800" cy="868680"/>
          </a:xfrm>
          <a:prstGeom prst="roundRect">
            <a:avLst>
              <a:gd name="adj" fmla="val 10526"/>
            </a:avLst>
          </a:prstGeom>
          <a:solidFill>
            <a:srgbClr val="F4F1E8"/>
          </a:solidFill>
          <a:ln w="12700">
            <a:solidFill>
              <a:srgbClr val="E4E1D6"/>
            </a:solidFill>
            <a:prstDash val="solid"/>
          </a:ln>
        </p:spPr>
      </p:sp>
      <p:sp>
        <p:nvSpPr>
          <p:cNvPr id="14" name="Text 12"/>
          <p:cNvSpPr/>
          <p:nvPr/>
        </p:nvSpPr>
        <p:spPr>
          <a:xfrm>
            <a:off x="777240" y="4892040"/>
            <a:ext cx="5943600" cy="868680"/>
          </a:xfrm>
          <a:prstGeom prst="rect">
            <a:avLst/>
          </a:prstGeom>
          <a:noFill/>
          <a:ln/>
        </p:spPr>
        <p:txBody>
          <a:bodyPr wrap="square" lIns="0" tIns="0" rIns="0" bIns="0" rtlCol="0" anchor="ctr"/>
          <a:lstStyle/>
          <a:p>
            <a:pPr indent="0" marL="0">
              <a:lnSpc>
                <a:spcPct val="120000"/>
              </a:lnSpc>
              <a:buNone/>
            </a:pPr>
            <a:r>
              <a:rPr lang="en-US" sz="1300" b="1" dirty="0">
                <a:solidFill>
                  <a:srgbClr val="1F4A2E"/>
                </a:solidFill>
                <a:latin typeface="Calibri" pitchFamily="34" charset="0"/>
                <a:ea typeface="Calibri" pitchFamily="34" charset="-122"/>
                <a:cs typeface="Calibri" pitchFamily="34" charset="-120"/>
              </a:rPr>
              <a:t>This isn't a one-off. </a:t>
            </a:r>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Our physics and math workshops hit the same wall: friction, exponential growth, why a chip runs hot — all invisible without equipment we don't have budget for.</a:t>
            </a:r>
            <a:endParaRPr lang="en-US" sz="1300" dirty="0"/>
          </a:p>
        </p:txBody>
      </p:sp>
      <p:sp>
        <p:nvSpPr>
          <p:cNvPr id="15" name="Shape 13"/>
          <p:cNvSpPr/>
          <p:nvPr/>
        </p:nvSpPr>
        <p:spPr>
          <a:xfrm>
            <a:off x="8595360" y="2880360"/>
            <a:ext cx="1371600" cy="1371600"/>
          </a:xfrm>
          <a:prstGeom prst="ellipse">
            <a:avLst/>
          </a:prstGeom>
          <a:solidFill>
            <a:srgbClr val="1F4A2E"/>
          </a:solidFill>
          <a:ln/>
        </p:spPr>
      </p:sp>
      <p:pic>
        <p:nvPicPr>
          <p:cNvPr id="16" name="Image 0" descr="/home/claude/pitch/icons/hdd.png">    </p:cNvPr>
          <p:cNvPicPr>
            <a:picLocks noChangeAspect="1"/>
          </p:cNvPicPr>
          <p:nvPr/>
        </p:nvPicPr>
        <p:blipFill>
          <a:blip r:embed="rId1"/>
          <a:stretch>
            <a:fillRect/>
          </a:stretch>
        </p:blipFill>
        <p:spPr>
          <a:xfrm>
            <a:off x="8951976" y="3236976"/>
            <a:ext cx="658368" cy="658368"/>
          </a:xfrm>
          <a:prstGeom prst="rect">
            <a:avLst/>
          </a:prstGeom>
        </p:spPr>
      </p:pic>
      <p:sp>
        <p:nvSpPr>
          <p:cNvPr id="17" name="Shape 14"/>
          <p:cNvSpPr/>
          <p:nvPr/>
        </p:nvSpPr>
        <p:spPr>
          <a:xfrm>
            <a:off x="10195560" y="2880360"/>
            <a:ext cx="1371600" cy="1371600"/>
          </a:xfrm>
          <a:prstGeom prst="ellipse">
            <a:avLst/>
          </a:prstGeom>
          <a:solidFill>
            <a:srgbClr val="D97706"/>
          </a:solidFill>
          <a:ln/>
        </p:spPr>
      </p:sp>
      <p:pic>
        <p:nvPicPr>
          <p:cNvPr id="18" name="Image 1" descr="/home/claude/pitch/icons/microchip.png">    </p:cNvPr>
          <p:cNvPicPr>
            <a:picLocks noChangeAspect="1"/>
          </p:cNvPicPr>
          <p:nvPr/>
        </p:nvPicPr>
        <p:blipFill>
          <a:blip r:embed="rId2"/>
          <a:stretch>
            <a:fillRect/>
          </a:stretch>
        </p:blipFill>
        <p:spPr>
          <a:xfrm>
            <a:off x="10552176" y="3236976"/>
            <a:ext cx="658368" cy="658368"/>
          </a:xfrm>
          <a:prstGeom prst="rect">
            <a:avLst/>
          </a:prstGeom>
        </p:spPr>
      </p:pic>
      <p:sp>
        <p:nvSpPr>
          <p:cNvPr id="19" name="Text 15"/>
          <p:cNvSpPr/>
          <p:nvPr/>
        </p:nvSpPr>
        <p:spPr>
          <a:xfrm>
            <a:off x="8595360" y="4297680"/>
            <a:ext cx="1371600" cy="320040"/>
          </a:xfrm>
          <a:prstGeom prst="rect">
            <a:avLst/>
          </a:prstGeom>
          <a:noFill/>
          <a:ln/>
        </p:spPr>
        <p:txBody>
          <a:bodyPr wrap="square" lIns="0" tIns="0" rIns="0" bIns="0" rtlCol="0" anchor="ctr"/>
          <a:lstStyle/>
          <a:p>
            <a:pPr algn="ctr" indent="0" marL="0">
              <a:buNone/>
            </a:pPr>
            <a:r>
              <a:rPr lang="en-US" sz="1200" b="1" dirty="0">
                <a:solidFill>
                  <a:srgbClr val="6B6B63"/>
                </a:solidFill>
                <a:latin typeface="Calibri" pitchFamily="34" charset="0"/>
                <a:ea typeface="Calibri" pitchFamily="34" charset="-122"/>
                <a:cs typeface="Calibri" pitchFamily="34" charset="-120"/>
              </a:rPr>
              <a:t>HDD</a:t>
            </a:r>
            <a:endParaRPr lang="en-US" sz="1200" dirty="0"/>
          </a:p>
        </p:txBody>
      </p:sp>
      <p:sp>
        <p:nvSpPr>
          <p:cNvPr id="20" name="Text 16"/>
          <p:cNvSpPr/>
          <p:nvPr/>
        </p:nvSpPr>
        <p:spPr>
          <a:xfrm>
            <a:off x="10195560" y="4297680"/>
            <a:ext cx="1371600" cy="320040"/>
          </a:xfrm>
          <a:prstGeom prst="rect">
            <a:avLst/>
          </a:prstGeom>
          <a:noFill/>
          <a:ln/>
        </p:spPr>
        <p:txBody>
          <a:bodyPr wrap="square" lIns="0" tIns="0" rIns="0" bIns="0" rtlCol="0" anchor="ctr"/>
          <a:lstStyle/>
          <a:p>
            <a:pPr algn="ctr" indent="0" marL="0">
              <a:buNone/>
            </a:pPr>
            <a:r>
              <a:rPr lang="en-US" sz="1200" b="1" dirty="0">
                <a:solidFill>
                  <a:srgbClr val="6B6B63"/>
                </a:solidFill>
                <a:latin typeface="Calibri" pitchFamily="34" charset="0"/>
                <a:ea typeface="Calibri" pitchFamily="34" charset="-122"/>
                <a:cs typeface="Calibri" pitchFamily="34" charset="-120"/>
              </a:rPr>
              <a:t>SSD</a:t>
            </a:r>
            <a:endParaRPr lang="en-US" sz="1200" dirty="0"/>
          </a:p>
        </p:txBody>
      </p:sp>
      <p:sp>
        <p:nvSpPr>
          <p:cNvPr id="21" name="Shape 17"/>
          <p:cNvSpPr/>
          <p:nvPr/>
        </p:nvSpPr>
        <p:spPr>
          <a:xfrm>
            <a:off x="9281160" y="3566160"/>
            <a:ext cx="1600200" cy="0"/>
          </a:xfrm>
          <a:prstGeom prst="line">
            <a:avLst/>
          </a:prstGeom>
          <a:noFill/>
          <a:ln w="19050">
            <a:solidFill>
              <a:srgbClr val="6B6B63"/>
            </a:solidFill>
            <a:prstDash val="dash"/>
            <a:tailEnd type="triangle"/>
          </a:ln>
        </p:spPr>
      </p:sp>
      <p:sp>
        <p:nvSpPr>
          <p:cNvPr id="22" name="Text 18"/>
          <p:cNvSpPr/>
          <p:nvPr/>
        </p:nvSpPr>
        <p:spPr>
          <a:xfrm>
            <a:off x="9281160" y="2880360"/>
            <a:ext cx="1600200" cy="548640"/>
          </a:xfrm>
          <a:prstGeom prst="rect">
            <a:avLst/>
          </a:prstGeom>
          <a:noFill/>
          <a:ln/>
        </p:spPr>
        <p:txBody>
          <a:bodyPr wrap="square" lIns="0" tIns="0" rIns="0" bIns="0" rtlCol="0" anchor="ctr"/>
          <a:lstStyle/>
          <a:p>
            <a:pPr algn="ctr" indent="0" marL="0">
              <a:buNone/>
            </a:pPr>
            <a:r>
              <a:rPr lang="en-US" sz="2600" b="1" dirty="0">
                <a:solidFill>
                  <a:srgbClr val="D97706"/>
                </a:solidFill>
                <a:latin typeface="Cambria" pitchFamily="34" charset="0"/>
                <a:ea typeface="Cambria" pitchFamily="34" charset="-122"/>
                <a:cs typeface="Cambria" pitchFamily="34" charset="-120"/>
              </a:rPr>
              <a:t>?</a:t>
            </a:r>
            <a:endParaRPr lang="en-US" sz="2600" dirty="0"/>
          </a:p>
        </p:txBody>
      </p:sp>
      <p:sp>
        <p:nvSpPr>
          <p:cNvPr id="23" name="Text 19"/>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6B6B63"/>
                </a:solidFill>
                <a:latin typeface="Calibri" pitchFamily="34" charset="0"/>
                <a:ea typeface="Calibri" pitchFamily="34" charset="-122"/>
                <a:cs typeface="Calibri" pitchFamily="34" charset="-120"/>
              </a:rPr>
              <a:t>2 / 14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40680" y="384048"/>
            <a:ext cx="1481328" cy="384048"/>
          </a:xfrm>
          <a:prstGeom prst="roundRect">
            <a:avLst>
              <a:gd name="adj" fmla="val 19048"/>
            </a:avLst>
          </a:prstGeom>
          <a:solidFill>
            <a:srgbClr val="E4E1D6"/>
          </a:solidFill>
          <a:ln/>
        </p:spPr>
      </p:sp>
      <p:sp>
        <p:nvSpPr>
          <p:cNvPr id="3" name="Text 1"/>
          <p:cNvSpPr/>
          <p:nvPr/>
        </p:nvSpPr>
        <p:spPr>
          <a:xfrm>
            <a:off x="5495544"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IDENTIFY</a:t>
            </a:r>
            <a:endParaRPr lang="en-US" sz="900" dirty="0"/>
          </a:p>
        </p:txBody>
      </p:sp>
      <p:sp>
        <p:nvSpPr>
          <p:cNvPr id="4" name="Shape 2"/>
          <p:cNvSpPr/>
          <p:nvPr/>
        </p:nvSpPr>
        <p:spPr>
          <a:xfrm>
            <a:off x="7013448" y="384048"/>
            <a:ext cx="1481328" cy="384048"/>
          </a:xfrm>
          <a:prstGeom prst="roundRect">
            <a:avLst>
              <a:gd name="adj" fmla="val 19048"/>
            </a:avLst>
          </a:prstGeom>
          <a:solidFill>
            <a:srgbClr val="D97706"/>
          </a:solidFill>
          <a:ln/>
        </p:spPr>
      </p:sp>
      <p:sp>
        <p:nvSpPr>
          <p:cNvPr id="5" name="Text 3"/>
          <p:cNvSpPr/>
          <p:nvPr/>
        </p:nvSpPr>
        <p:spPr>
          <a:xfrm>
            <a:off x="7068312" y="384048"/>
            <a:ext cx="1371600" cy="38404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RESEARCH</a:t>
            </a:r>
            <a:endParaRPr lang="en-US" sz="900" dirty="0"/>
          </a:p>
        </p:txBody>
      </p:sp>
      <p:sp>
        <p:nvSpPr>
          <p:cNvPr id="6" name="Shape 4"/>
          <p:cNvSpPr/>
          <p:nvPr/>
        </p:nvSpPr>
        <p:spPr>
          <a:xfrm>
            <a:off x="8586216" y="384048"/>
            <a:ext cx="1481328" cy="384048"/>
          </a:xfrm>
          <a:prstGeom prst="roundRect">
            <a:avLst>
              <a:gd name="adj" fmla="val 19048"/>
            </a:avLst>
          </a:prstGeom>
          <a:solidFill>
            <a:srgbClr val="E4E1D6"/>
          </a:solidFill>
          <a:ln/>
        </p:spPr>
      </p:sp>
      <p:sp>
        <p:nvSpPr>
          <p:cNvPr id="7" name="Text 5"/>
          <p:cNvSpPr/>
          <p:nvPr/>
        </p:nvSpPr>
        <p:spPr>
          <a:xfrm>
            <a:off x="8641080"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INNOVATE</a:t>
            </a:r>
            <a:endParaRPr lang="en-US" sz="900" dirty="0"/>
          </a:p>
        </p:txBody>
      </p:sp>
      <p:sp>
        <p:nvSpPr>
          <p:cNvPr id="8" name="Shape 6"/>
          <p:cNvSpPr/>
          <p:nvPr/>
        </p:nvSpPr>
        <p:spPr>
          <a:xfrm>
            <a:off x="10158984" y="384048"/>
            <a:ext cx="1481328" cy="384048"/>
          </a:xfrm>
          <a:prstGeom prst="roundRect">
            <a:avLst>
              <a:gd name="adj" fmla="val 19048"/>
            </a:avLst>
          </a:prstGeom>
          <a:solidFill>
            <a:srgbClr val="E4E1D6"/>
          </a:solidFill>
          <a:ln/>
        </p:spPr>
      </p:sp>
      <p:sp>
        <p:nvSpPr>
          <p:cNvPr id="9" name="Text 7"/>
          <p:cNvSpPr/>
          <p:nvPr/>
        </p:nvSpPr>
        <p:spPr>
          <a:xfrm>
            <a:off x="10213848"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IMPACT</a:t>
            </a:r>
            <a:endParaRPr lang="en-US" sz="900" dirty="0"/>
          </a:p>
        </p:txBody>
      </p:sp>
      <p:sp>
        <p:nvSpPr>
          <p:cNvPr id="10" name="Text 8"/>
          <p:cNvSpPr/>
          <p:nvPr/>
        </p:nvSpPr>
        <p:spPr>
          <a:xfrm>
            <a:off x="548640" y="502920"/>
            <a:ext cx="8229600" cy="36576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RESEARCH — ROOT CAUSE</a:t>
            </a:r>
            <a:endParaRPr lang="en-US" sz="1300" dirty="0"/>
          </a:p>
        </p:txBody>
      </p:sp>
      <p:sp>
        <p:nvSpPr>
          <p:cNvPr id="11" name="Text 9"/>
          <p:cNvSpPr/>
          <p:nvPr/>
        </p:nvSpPr>
        <p:spPr>
          <a:xfrm>
            <a:off x="548640" y="841248"/>
            <a:ext cx="9692640" cy="914400"/>
          </a:xfrm>
          <a:prstGeom prst="rect">
            <a:avLst/>
          </a:prstGeom>
          <a:noFill/>
          <a:ln/>
        </p:spPr>
        <p:txBody>
          <a:bodyPr wrap="square" lIns="0" tIns="0" rIns="0" bIns="0" rtlCol="0" anchor="ctr"/>
          <a:lstStyle/>
          <a:p>
            <a:pPr indent="0" marL="0">
              <a:lnSpc>
                <a:spcPct val="102000"/>
              </a:lnSpc>
              <a:buNone/>
            </a:pPr>
            <a:r>
              <a:rPr lang="en-US" sz="3200" b="1" dirty="0">
                <a:solidFill>
                  <a:srgbClr val="1A1A1A"/>
                </a:solidFill>
                <a:latin typeface="Cambria" pitchFamily="34" charset="0"/>
                <a:ea typeface="Cambria" pitchFamily="34" charset="-122"/>
                <a:cs typeface="Cambria" pitchFamily="34" charset="-120"/>
              </a:rPr>
              <a:t>Misconceptions survive</a:t>
            </a:r>
            <a:endParaRPr lang="en-US" sz="3200" dirty="0"/>
          </a:p>
          <a:p>
            <a:pPr indent="0" marL="0">
              <a:lnSpc>
                <a:spcPct val="102000"/>
              </a:lnSpc>
              <a:buNone/>
            </a:pPr>
            <a:r>
              <a:rPr lang="en-US" sz="3200" b="1" dirty="0">
                <a:solidFill>
                  <a:srgbClr val="1A1A1A"/>
                </a:solidFill>
                <a:latin typeface="Cambria" pitchFamily="34" charset="0"/>
                <a:ea typeface="Cambria" pitchFamily="34" charset="-122"/>
                <a:cs typeface="Cambria" pitchFamily="34" charset="-120"/>
              </a:rPr>
              <a:t>even college.</a:t>
            </a:r>
            <a:endParaRPr lang="en-US" sz="3200" dirty="0"/>
          </a:p>
        </p:txBody>
      </p:sp>
      <p:sp>
        <p:nvSpPr>
          <p:cNvPr id="12" name="Shape 10"/>
          <p:cNvSpPr/>
          <p:nvPr/>
        </p:nvSpPr>
        <p:spPr>
          <a:xfrm>
            <a:off x="548640" y="2331720"/>
            <a:ext cx="4206240" cy="3108960"/>
          </a:xfrm>
          <a:prstGeom prst="roundRect">
            <a:avLst>
              <a:gd name="adj" fmla="val 3529"/>
            </a:avLst>
          </a:prstGeom>
          <a:solidFill>
            <a:srgbClr val="1F4A2E"/>
          </a:solidFill>
          <a:ln/>
        </p:spPr>
      </p:sp>
      <p:sp>
        <p:nvSpPr>
          <p:cNvPr id="13" name="Text 11"/>
          <p:cNvSpPr/>
          <p:nvPr/>
        </p:nvSpPr>
        <p:spPr>
          <a:xfrm>
            <a:off x="868680" y="2606040"/>
            <a:ext cx="3566160" cy="118872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40–50%+</a:t>
            </a:r>
            <a:endParaRPr lang="en-US" sz="5800" dirty="0"/>
          </a:p>
        </p:txBody>
      </p:sp>
      <p:sp>
        <p:nvSpPr>
          <p:cNvPr id="14" name="Text 12"/>
          <p:cNvSpPr/>
          <p:nvPr/>
        </p:nvSpPr>
        <p:spPr>
          <a:xfrm>
            <a:off x="868680" y="3794760"/>
            <a:ext cx="3566160" cy="1051560"/>
          </a:xfrm>
          <a:prstGeom prst="rect">
            <a:avLst/>
          </a:prstGeom>
          <a:noFill/>
          <a:ln/>
        </p:spPr>
        <p:txBody>
          <a:bodyPr wrap="square" lIns="0" tIns="0" rIns="0" bIns="0" rtlCol="0" anchor="ctr"/>
          <a:lstStyle/>
          <a:p>
            <a:pPr indent="0" marL="0">
              <a:lnSpc>
                <a:spcPct val="128000"/>
              </a:lnSpc>
              <a:buNone/>
            </a:pPr>
            <a:r>
              <a:rPr lang="en-US" sz="1450" dirty="0">
                <a:solidFill>
                  <a:srgbClr val="D8E4D3"/>
                </a:solidFill>
                <a:latin typeface="Calibri" pitchFamily="34" charset="0"/>
                <a:ea typeface="Calibri" pitchFamily="34" charset="-122"/>
                <a:cs typeface="Calibri" pitchFamily="34" charset="-120"/>
              </a:rPr>
              <a:t>of students still misunderstand core hardware concepts — after passing a full college course on it.</a:t>
            </a:r>
            <a:endParaRPr lang="en-US" sz="1450" dirty="0"/>
          </a:p>
        </p:txBody>
      </p:sp>
      <p:sp>
        <p:nvSpPr>
          <p:cNvPr id="15" name="Text 13"/>
          <p:cNvSpPr/>
          <p:nvPr/>
        </p:nvSpPr>
        <p:spPr>
          <a:xfrm>
            <a:off x="868680" y="5029200"/>
            <a:ext cx="3566160" cy="320040"/>
          </a:xfrm>
          <a:prstGeom prst="rect">
            <a:avLst/>
          </a:prstGeom>
          <a:noFill/>
          <a:ln/>
        </p:spPr>
        <p:txBody>
          <a:bodyPr wrap="square" lIns="0" tIns="0" rIns="0" bIns="0" rtlCol="0" anchor="ctr"/>
          <a:lstStyle/>
          <a:p>
            <a:pPr indent="0" marL="0">
              <a:buNone/>
            </a:pPr>
            <a:r>
              <a:rPr lang="en-US" sz="1050" i="1" dirty="0">
                <a:solidFill>
                  <a:srgbClr val="9FD9B4"/>
                </a:solidFill>
                <a:latin typeface="Calibri" pitchFamily="34" charset="0"/>
                <a:ea typeface="Calibri" pitchFamily="34" charset="-122"/>
                <a:cs typeface="Calibri" pitchFamily="34" charset="-120"/>
              </a:rPr>
              <a:t>Herman, Zilles &amp; Loui — University of Illinois, 2011</a:t>
            </a:r>
            <a:endParaRPr lang="en-US" sz="1050" dirty="0"/>
          </a:p>
        </p:txBody>
      </p:sp>
      <p:sp>
        <p:nvSpPr>
          <p:cNvPr id="16" name="Shape 14"/>
          <p:cNvSpPr/>
          <p:nvPr/>
        </p:nvSpPr>
        <p:spPr>
          <a:xfrm>
            <a:off x="5120640" y="2331720"/>
            <a:ext cx="5486400" cy="3108960"/>
          </a:xfrm>
          <a:prstGeom prst="roundRect">
            <a:avLst>
              <a:gd name="adj" fmla="val 3529"/>
            </a:avLst>
          </a:prstGeom>
          <a:solidFill>
            <a:srgbClr val="F4F1E8"/>
          </a:solidFill>
          <a:ln/>
        </p:spPr>
      </p:sp>
      <p:sp>
        <p:nvSpPr>
          <p:cNvPr id="17" name="Text 15"/>
          <p:cNvSpPr/>
          <p:nvPr/>
        </p:nvSpPr>
        <p:spPr>
          <a:xfrm>
            <a:off x="5440680" y="2606040"/>
            <a:ext cx="4846320" cy="365760"/>
          </a:xfrm>
          <a:prstGeom prst="rect">
            <a:avLst/>
          </a:prstGeom>
          <a:noFill/>
          <a:ln/>
        </p:spPr>
        <p:txBody>
          <a:bodyPr wrap="square" lIns="0" tIns="0" rIns="0" bIns="0" rtlCol="0" anchor="ctr"/>
          <a:lstStyle/>
          <a:p>
            <a:pPr indent="0" marL="0">
              <a:buNone/>
            </a:pPr>
            <a:r>
              <a:rPr lang="en-US" sz="1150" b="1" spc="100" kern="0" dirty="0">
                <a:solidFill>
                  <a:srgbClr val="D97706"/>
                </a:solidFill>
                <a:latin typeface="Calibri" pitchFamily="34" charset="0"/>
                <a:ea typeface="Calibri" pitchFamily="34" charset="-122"/>
                <a:cs typeface="Calibri" pitchFamily="34" charset="-120"/>
              </a:rPr>
              <a:t>WHY A COLLEGE STUDY STILL MAKES OUR CASE</a:t>
            </a:r>
            <a:endParaRPr lang="en-US" sz="1150" dirty="0"/>
          </a:p>
        </p:txBody>
      </p:sp>
      <p:sp>
        <p:nvSpPr>
          <p:cNvPr id="18" name="Text 16"/>
          <p:cNvSpPr/>
          <p:nvPr/>
        </p:nvSpPr>
        <p:spPr>
          <a:xfrm>
            <a:off x="5440680" y="3063240"/>
            <a:ext cx="4846320" cy="2194560"/>
          </a:xfrm>
          <a:prstGeom prst="rect">
            <a:avLst/>
          </a:prstGeom>
          <a:noFill/>
          <a:ln/>
        </p:spPr>
        <p:txBody>
          <a:bodyPr wrap="square" lIns="0" tIns="0" rIns="0" bIns="0" rtlCol="0" anchor="ctr"/>
          <a:lstStyle/>
          <a:p>
            <a:pPr indent="0" marL="0">
              <a:lnSpc>
                <a:spcPct val="135000"/>
              </a:lnSpc>
              <a:buNone/>
            </a:pPr>
            <a:r>
              <a:rPr lang="en-US" sz="1500" dirty="0">
                <a:solidFill>
                  <a:srgbClr val="1A1A1A"/>
                </a:solidFill>
                <a:latin typeface="Calibri" pitchFamily="34" charset="0"/>
                <a:ea typeface="Calibri" pitchFamily="34" charset="-122"/>
                <a:cs typeface="Calibri" pitchFamily="34" charset="-120"/>
              </a:rPr>
              <a:t>That study is college students, not ten-year-olds — which makes our case stronger, not weaker. If a full college course doesn't fix this, a one-hour workshop for a much younger student has even less chance without something that makes the mechanism visible.</a:t>
            </a:r>
            <a:endParaRPr lang="en-US" sz="1500" dirty="0"/>
          </a:p>
        </p:txBody>
      </p:sp>
      <p:sp>
        <p:nvSpPr>
          <p:cNvPr id="19" name="Text 17"/>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6B6B63"/>
                </a:solidFill>
                <a:latin typeface="Calibri" pitchFamily="34" charset="0"/>
                <a:ea typeface="Calibri" pitchFamily="34" charset="-122"/>
                <a:cs typeface="Calibri" pitchFamily="34" charset="-120"/>
              </a:rPr>
              <a:t>3 / 14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40680" y="384048"/>
            <a:ext cx="1481328" cy="384048"/>
          </a:xfrm>
          <a:prstGeom prst="roundRect">
            <a:avLst>
              <a:gd name="adj" fmla="val 19048"/>
            </a:avLst>
          </a:prstGeom>
          <a:solidFill>
            <a:srgbClr val="E4E1D6"/>
          </a:solidFill>
          <a:ln/>
        </p:spPr>
      </p:sp>
      <p:sp>
        <p:nvSpPr>
          <p:cNvPr id="3" name="Text 1"/>
          <p:cNvSpPr/>
          <p:nvPr/>
        </p:nvSpPr>
        <p:spPr>
          <a:xfrm>
            <a:off x="5495544"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IDENTIFY</a:t>
            </a:r>
            <a:endParaRPr lang="en-US" sz="900" dirty="0"/>
          </a:p>
        </p:txBody>
      </p:sp>
      <p:sp>
        <p:nvSpPr>
          <p:cNvPr id="4" name="Shape 2"/>
          <p:cNvSpPr/>
          <p:nvPr/>
        </p:nvSpPr>
        <p:spPr>
          <a:xfrm>
            <a:off x="7013448" y="384048"/>
            <a:ext cx="1481328" cy="384048"/>
          </a:xfrm>
          <a:prstGeom prst="roundRect">
            <a:avLst>
              <a:gd name="adj" fmla="val 19048"/>
            </a:avLst>
          </a:prstGeom>
          <a:solidFill>
            <a:srgbClr val="D97706"/>
          </a:solidFill>
          <a:ln/>
        </p:spPr>
      </p:sp>
      <p:sp>
        <p:nvSpPr>
          <p:cNvPr id="5" name="Text 3"/>
          <p:cNvSpPr/>
          <p:nvPr/>
        </p:nvSpPr>
        <p:spPr>
          <a:xfrm>
            <a:off x="7068312" y="384048"/>
            <a:ext cx="1371600" cy="38404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RESEARCH</a:t>
            </a:r>
            <a:endParaRPr lang="en-US" sz="900" dirty="0"/>
          </a:p>
        </p:txBody>
      </p:sp>
      <p:sp>
        <p:nvSpPr>
          <p:cNvPr id="6" name="Shape 4"/>
          <p:cNvSpPr/>
          <p:nvPr/>
        </p:nvSpPr>
        <p:spPr>
          <a:xfrm>
            <a:off x="8586216" y="384048"/>
            <a:ext cx="1481328" cy="384048"/>
          </a:xfrm>
          <a:prstGeom prst="roundRect">
            <a:avLst>
              <a:gd name="adj" fmla="val 19048"/>
            </a:avLst>
          </a:prstGeom>
          <a:solidFill>
            <a:srgbClr val="E4E1D6"/>
          </a:solidFill>
          <a:ln/>
        </p:spPr>
      </p:sp>
      <p:sp>
        <p:nvSpPr>
          <p:cNvPr id="7" name="Text 5"/>
          <p:cNvSpPr/>
          <p:nvPr/>
        </p:nvSpPr>
        <p:spPr>
          <a:xfrm>
            <a:off x="8641080"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INNOVATE</a:t>
            </a:r>
            <a:endParaRPr lang="en-US" sz="900" dirty="0"/>
          </a:p>
        </p:txBody>
      </p:sp>
      <p:sp>
        <p:nvSpPr>
          <p:cNvPr id="8" name="Shape 6"/>
          <p:cNvSpPr/>
          <p:nvPr/>
        </p:nvSpPr>
        <p:spPr>
          <a:xfrm>
            <a:off x="10158984" y="384048"/>
            <a:ext cx="1481328" cy="384048"/>
          </a:xfrm>
          <a:prstGeom prst="roundRect">
            <a:avLst>
              <a:gd name="adj" fmla="val 19048"/>
            </a:avLst>
          </a:prstGeom>
          <a:solidFill>
            <a:srgbClr val="E4E1D6"/>
          </a:solidFill>
          <a:ln/>
        </p:spPr>
      </p:sp>
      <p:sp>
        <p:nvSpPr>
          <p:cNvPr id="9" name="Text 7"/>
          <p:cNvSpPr/>
          <p:nvPr/>
        </p:nvSpPr>
        <p:spPr>
          <a:xfrm>
            <a:off x="10213848"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IMPACT</a:t>
            </a:r>
            <a:endParaRPr lang="en-US" sz="900" dirty="0"/>
          </a:p>
        </p:txBody>
      </p:sp>
      <p:sp>
        <p:nvSpPr>
          <p:cNvPr id="10" name="Text 8"/>
          <p:cNvSpPr/>
          <p:nvPr/>
        </p:nvSpPr>
        <p:spPr>
          <a:xfrm>
            <a:off x="548640" y="502920"/>
            <a:ext cx="8229600" cy="36576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RESEARCH — RELEVANCE BEYOND JANYAA</a:t>
            </a:r>
            <a:endParaRPr lang="en-US" sz="1300" dirty="0"/>
          </a:p>
        </p:txBody>
      </p:sp>
      <p:sp>
        <p:nvSpPr>
          <p:cNvPr id="11" name="Text 9"/>
          <p:cNvSpPr/>
          <p:nvPr/>
        </p:nvSpPr>
        <p:spPr>
          <a:xfrm>
            <a:off x="548640" y="841248"/>
            <a:ext cx="9692640" cy="914400"/>
          </a:xfrm>
          <a:prstGeom prst="rect">
            <a:avLst/>
          </a:prstGeom>
          <a:noFill/>
          <a:ln/>
        </p:spPr>
        <p:txBody>
          <a:bodyPr wrap="square" lIns="0" tIns="0" rIns="0" bIns="0" rtlCol="0" anchor="ctr"/>
          <a:lstStyle/>
          <a:p>
            <a:pPr indent="0" marL="0">
              <a:lnSpc>
                <a:spcPct val="102000"/>
              </a:lnSpc>
              <a:buNone/>
            </a:pPr>
            <a:r>
              <a:rPr lang="en-US" sz="3200" b="1" dirty="0">
                <a:solidFill>
                  <a:srgbClr val="1A1A1A"/>
                </a:solidFill>
                <a:latin typeface="Cambria" pitchFamily="34" charset="0"/>
                <a:ea typeface="Cambria" pitchFamily="34" charset="-122"/>
                <a:cs typeface="Cambria" pitchFamily="34" charset="-120"/>
              </a:rPr>
              <a:t>This isn't one club's problem.</a:t>
            </a:r>
            <a:endParaRPr lang="en-US" sz="3200" dirty="0"/>
          </a:p>
        </p:txBody>
      </p:sp>
      <p:sp>
        <p:nvSpPr>
          <p:cNvPr id="12" name="Shape 10"/>
          <p:cNvSpPr/>
          <p:nvPr/>
        </p:nvSpPr>
        <p:spPr>
          <a:xfrm>
            <a:off x="548640" y="2286000"/>
            <a:ext cx="3401568" cy="2331720"/>
          </a:xfrm>
          <a:prstGeom prst="roundRect">
            <a:avLst>
              <a:gd name="adj" fmla="val 3529"/>
            </a:avLst>
          </a:prstGeom>
          <a:solidFill>
            <a:srgbClr val="F4F1E8"/>
          </a:solidFill>
          <a:ln/>
        </p:spPr>
      </p:sp>
      <p:sp>
        <p:nvSpPr>
          <p:cNvPr id="13" name="Text 11"/>
          <p:cNvSpPr/>
          <p:nvPr/>
        </p:nvSpPr>
        <p:spPr>
          <a:xfrm>
            <a:off x="822960" y="2487168"/>
            <a:ext cx="2852928" cy="979322"/>
          </a:xfrm>
          <a:prstGeom prst="rect">
            <a:avLst/>
          </a:prstGeom>
          <a:noFill/>
          <a:ln/>
        </p:spPr>
        <p:txBody>
          <a:bodyPr wrap="square" lIns="0" tIns="0" rIns="0" bIns="0" rtlCol="0" anchor="ctr"/>
          <a:lstStyle/>
          <a:p>
            <a:pPr indent="0" marL="0">
              <a:buNone/>
            </a:pPr>
            <a:r>
              <a:rPr lang="en-US" sz="4000" b="1" dirty="0">
                <a:solidFill>
                  <a:srgbClr val="1F4A2E"/>
                </a:solidFill>
                <a:latin typeface="Cambria" pitchFamily="34" charset="0"/>
                <a:ea typeface="Cambria" pitchFamily="34" charset="-122"/>
                <a:cs typeface="Cambria" pitchFamily="34" charset="-120"/>
              </a:rPr>
              <a:t>10M+</a:t>
            </a:r>
            <a:endParaRPr lang="en-US" sz="4000" dirty="0"/>
          </a:p>
        </p:txBody>
      </p:sp>
      <p:sp>
        <p:nvSpPr>
          <p:cNvPr id="14" name="Text 12"/>
          <p:cNvSpPr/>
          <p:nvPr/>
        </p:nvSpPr>
        <p:spPr>
          <a:xfrm>
            <a:off x="822960" y="3521354"/>
            <a:ext cx="2852928" cy="839419"/>
          </a:xfrm>
          <a:prstGeom prst="rect">
            <a:avLst/>
          </a:prstGeom>
          <a:noFill/>
          <a:ln/>
        </p:spPr>
        <p:txBody>
          <a:bodyPr wrap="square" lIns="0" tIns="0" rIns="0" bIns="0" rtlCol="0" anchor="ctr"/>
          <a:lstStyle/>
          <a:p>
            <a:pPr indent="0" marL="0">
              <a:lnSpc>
                <a:spcPct val="122000"/>
              </a:lnSpc>
              <a:buNone/>
            </a:pPr>
            <a:r>
              <a:rPr lang="en-US" sz="1250" dirty="0">
                <a:solidFill>
                  <a:srgbClr val="1A1A1A"/>
                </a:solidFill>
                <a:latin typeface="Calibri" pitchFamily="34" charset="0"/>
                <a:ea typeface="Calibri" pitchFamily="34" charset="-122"/>
                <a:cs typeface="Calibri" pitchFamily="34" charset="-120"/>
              </a:rPr>
              <a:t>youth in afterschool programs, nationally</a:t>
            </a:r>
            <a:endParaRPr lang="en-US" sz="1250" dirty="0"/>
          </a:p>
        </p:txBody>
      </p:sp>
      <p:sp>
        <p:nvSpPr>
          <p:cNvPr id="15" name="Text 13"/>
          <p:cNvSpPr/>
          <p:nvPr/>
        </p:nvSpPr>
        <p:spPr>
          <a:xfrm>
            <a:off x="822960" y="4306824"/>
            <a:ext cx="2852928" cy="274320"/>
          </a:xfrm>
          <a:prstGeom prst="rect">
            <a:avLst/>
          </a:prstGeom>
          <a:noFill/>
          <a:ln/>
        </p:spPr>
        <p:txBody>
          <a:bodyPr wrap="square" lIns="0" tIns="0" rIns="0" bIns="0" rtlCol="0" anchor="ctr"/>
          <a:lstStyle/>
          <a:p>
            <a:pPr indent="0" marL="0">
              <a:buNone/>
            </a:pPr>
            <a:r>
              <a:rPr lang="en-US" sz="950" i="1" dirty="0">
                <a:solidFill>
                  <a:srgbClr val="6B6B63"/>
                </a:solidFill>
                <a:latin typeface="Calibri" pitchFamily="34" charset="0"/>
                <a:ea typeface="Calibri" pitchFamily="34" charset="-122"/>
                <a:cs typeface="Calibri" pitchFamily="34" charset="-120"/>
              </a:rPr>
              <a:t>50 State Afterschool Network</a:t>
            </a:r>
            <a:endParaRPr lang="en-US" sz="950" dirty="0"/>
          </a:p>
        </p:txBody>
      </p:sp>
      <p:sp>
        <p:nvSpPr>
          <p:cNvPr id="16" name="Shape 14"/>
          <p:cNvSpPr/>
          <p:nvPr/>
        </p:nvSpPr>
        <p:spPr>
          <a:xfrm>
            <a:off x="4169664" y="2286000"/>
            <a:ext cx="3401568" cy="2331720"/>
          </a:xfrm>
          <a:prstGeom prst="roundRect">
            <a:avLst>
              <a:gd name="adj" fmla="val 3529"/>
            </a:avLst>
          </a:prstGeom>
          <a:solidFill>
            <a:srgbClr val="F4F1E8"/>
          </a:solidFill>
          <a:ln/>
        </p:spPr>
      </p:sp>
      <p:sp>
        <p:nvSpPr>
          <p:cNvPr id="17" name="Text 15"/>
          <p:cNvSpPr/>
          <p:nvPr/>
        </p:nvSpPr>
        <p:spPr>
          <a:xfrm>
            <a:off x="4443984" y="2487168"/>
            <a:ext cx="2852928" cy="979322"/>
          </a:xfrm>
          <a:prstGeom prst="rect">
            <a:avLst/>
          </a:prstGeom>
          <a:noFill/>
          <a:ln/>
        </p:spPr>
        <p:txBody>
          <a:bodyPr wrap="square" lIns="0" tIns="0" rIns="0" bIns="0" rtlCol="0" anchor="ctr"/>
          <a:lstStyle/>
          <a:p>
            <a:pPr indent="0" marL="0">
              <a:buNone/>
            </a:pPr>
            <a:r>
              <a:rPr lang="en-US" sz="4000" b="1" dirty="0">
                <a:solidFill>
                  <a:srgbClr val="D97706"/>
                </a:solidFill>
                <a:latin typeface="Cambria" pitchFamily="34" charset="0"/>
                <a:ea typeface="Cambria" pitchFamily="34" charset="-122"/>
                <a:cs typeface="Cambria" pitchFamily="34" charset="-120"/>
              </a:rPr>
              <a:t>73%</a:t>
            </a:r>
            <a:endParaRPr lang="en-US" sz="4000" dirty="0"/>
          </a:p>
        </p:txBody>
      </p:sp>
      <p:sp>
        <p:nvSpPr>
          <p:cNvPr id="18" name="Text 16"/>
          <p:cNvSpPr/>
          <p:nvPr/>
        </p:nvSpPr>
        <p:spPr>
          <a:xfrm>
            <a:off x="4443984" y="3521354"/>
            <a:ext cx="2852928" cy="839419"/>
          </a:xfrm>
          <a:prstGeom prst="rect">
            <a:avLst/>
          </a:prstGeom>
          <a:noFill/>
          <a:ln/>
        </p:spPr>
        <p:txBody>
          <a:bodyPr wrap="square" lIns="0" tIns="0" rIns="0" bIns="0" rtlCol="0" anchor="ctr"/>
          <a:lstStyle/>
          <a:p>
            <a:pPr indent="0" marL="0">
              <a:lnSpc>
                <a:spcPct val="122000"/>
              </a:lnSpc>
              <a:buNone/>
            </a:pPr>
            <a:r>
              <a:rPr lang="en-US" sz="1250" dirty="0">
                <a:solidFill>
                  <a:srgbClr val="1A1A1A"/>
                </a:solidFill>
                <a:latin typeface="Calibri" pitchFamily="34" charset="0"/>
                <a:ea typeface="Calibri" pitchFamily="34" charset="-122"/>
                <a:cs typeface="Calibri" pitchFamily="34" charset="-120"/>
              </a:rPr>
              <a:t>of afterschool programs offer STEM — but 3 in 4 of ~30M underserved kids still don't have one</a:t>
            </a:r>
            <a:endParaRPr lang="en-US" sz="1250" dirty="0"/>
          </a:p>
        </p:txBody>
      </p:sp>
      <p:sp>
        <p:nvSpPr>
          <p:cNvPr id="19" name="Text 17"/>
          <p:cNvSpPr/>
          <p:nvPr/>
        </p:nvSpPr>
        <p:spPr>
          <a:xfrm>
            <a:off x="4443984" y="4306824"/>
            <a:ext cx="2852928" cy="274320"/>
          </a:xfrm>
          <a:prstGeom prst="rect">
            <a:avLst/>
          </a:prstGeom>
          <a:noFill/>
          <a:ln/>
        </p:spPr>
        <p:txBody>
          <a:bodyPr wrap="square" lIns="0" tIns="0" rIns="0" bIns="0" rtlCol="0" anchor="ctr"/>
          <a:lstStyle/>
          <a:p>
            <a:pPr indent="0" marL="0">
              <a:buNone/>
            </a:pPr>
            <a:r>
              <a:rPr lang="en-US" sz="950" i="1" dirty="0">
                <a:solidFill>
                  <a:srgbClr val="6B6B63"/>
                </a:solidFill>
                <a:latin typeface="Calibri" pitchFamily="34" charset="0"/>
                <a:ea typeface="Calibri" pitchFamily="34" charset="-122"/>
                <a:cs typeface="Calibri" pitchFamily="34" charset="-120"/>
              </a:rPr>
              <a:t>Afterschool Alliance, 2021/2025</a:t>
            </a:r>
            <a:endParaRPr lang="en-US" sz="950" dirty="0"/>
          </a:p>
        </p:txBody>
      </p:sp>
      <p:sp>
        <p:nvSpPr>
          <p:cNvPr id="20" name="Shape 18"/>
          <p:cNvSpPr/>
          <p:nvPr/>
        </p:nvSpPr>
        <p:spPr>
          <a:xfrm>
            <a:off x="7790688" y="2286000"/>
            <a:ext cx="3401568" cy="2331720"/>
          </a:xfrm>
          <a:prstGeom prst="roundRect">
            <a:avLst>
              <a:gd name="adj" fmla="val 3529"/>
            </a:avLst>
          </a:prstGeom>
          <a:solidFill>
            <a:srgbClr val="F4F1E8"/>
          </a:solidFill>
          <a:ln/>
        </p:spPr>
      </p:sp>
      <p:sp>
        <p:nvSpPr>
          <p:cNvPr id="21" name="Text 19"/>
          <p:cNvSpPr/>
          <p:nvPr/>
        </p:nvSpPr>
        <p:spPr>
          <a:xfrm>
            <a:off x="8065008" y="2487168"/>
            <a:ext cx="2852928" cy="979322"/>
          </a:xfrm>
          <a:prstGeom prst="rect">
            <a:avLst/>
          </a:prstGeom>
          <a:noFill/>
          <a:ln/>
        </p:spPr>
        <p:txBody>
          <a:bodyPr wrap="square" lIns="0" tIns="0" rIns="0" bIns="0" rtlCol="0" anchor="ctr"/>
          <a:lstStyle/>
          <a:p>
            <a:pPr indent="0" marL="0">
              <a:buNone/>
            </a:pPr>
            <a:r>
              <a:rPr lang="en-US" sz="2600" b="1" dirty="0">
                <a:solidFill>
                  <a:srgbClr val="1F4A2E"/>
                </a:solidFill>
                <a:latin typeface="Cambria" pitchFamily="34" charset="0"/>
                <a:ea typeface="Cambria" pitchFamily="34" charset="-122"/>
                <a:cs typeface="Cambria" pitchFamily="34" charset="-120"/>
              </a:rPr>
              <a:t>“Top challenge”</a:t>
            </a:r>
            <a:endParaRPr lang="en-US" sz="2600" dirty="0"/>
          </a:p>
        </p:txBody>
      </p:sp>
      <p:sp>
        <p:nvSpPr>
          <p:cNvPr id="22" name="Text 20"/>
          <p:cNvSpPr/>
          <p:nvPr/>
        </p:nvSpPr>
        <p:spPr>
          <a:xfrm>
            <a:off x="8065008" y="3521354"/>
            <a:ext cx="2852928" cy="839419"/>
          </a:xfrm>
          <a:prstGeom prst="rect">
            <a:avLst/>
          </a:prstGeom>
          <a:noFill/>
          <a:ln/>
        </p:spPr>
        <p:txBody>
          <a:bodyPr wrap="square" lIns="0" tIns="0" rIns="0" bIns="0" rtlCol="0" anchor="ctr"/>
          <a:lstStyle/>
          <a:p>
            <a:pPr indent="0" marL="0">
              <a:lnSpc>
                <a:spcPct val="122000"/>
              </a:lnSpc>
              <a:buNone/>
            </a:pPr>
            <a:r>
              <a:rPr lang="en-US" sz="1250" dirty="0">
                <a:solidFill>
                  <a:srgbClr val="1A1A1A"/>
                </a:solidFill>
                <a:latin typeface="Calibri" pitchFamily="34" charset="0"/>
                <a:ea typeface="Calibri" pitchFamily="34" charset="-122"/>
                <a:cs typeface="Calibri" pitchFamily="34" charset="-120"/>
              </a:rPr>
              <a:t>principals nationwide name finding STEM providers and funding as a top afterschool barrier</a:t>
            </a:r>
            <a:endParaRPr lang="en-US" sz="1250" dirty="0"/>
          </a:p>
        </p:txBody>
      </p:sp>
      <p:sp>
        <p:nvSpPr>
          <p:cNvPr id="23" name="Text 21"/>
          <p:cNvSpPr/>
          <p:nvPr/>
        </p:nvSpPr>
        <p:spPr>
          <a:xfrm>
            <a:off x="8065008" y="4306824"/>
            <a:ext cx="2852928" cy="274320"/>
          </a:xfrm>
          <a:prstGeom prst="rect">
            <a:avLst/>
          </a:prstGeom>
          <a:noFill/>
          <a:ln/>
        </p:spPr>
        <p:txBody>
          <a:bodyPr wrap="square" lIns="0" tIns="0" rIns="0" bIns="0" rtlCol="0" anchor="ctr"/>
          <a:lstStyle/>
          <a:p>
            <a:pPr indent="0" marL="0">
              <a:buNone/>
            </a:pPr>
            <a:r>
              <a:rPr lang="en-US" sz="950" i="1" dirty="0">
                <a:solidFill>
                  <a:srgbClr val="6B6B63"/>
                </a:solidFill>
                <a:latin typeface="Calibri" pitchFamily="34" charset="0"/>
                <a:ea typeface="Calibri" pitchFamily="34" charset="-122"/>
                <a:cs typeface="Calibri" pitchFamily="34" charset="-120"/>
              </a:rPr>
              <a:t>RAND Corporation, 2023</a:t>
            </a:r>
            <a:endParaRPr lang="en-US" sz="950" dirty="0"/>
          </a:p>
        </p:txBody>
      </p:sp>
      <p:sp>
        <p:nvSpPr>
          <p:cNvPr id="24" name="Shape 22"/>
          <p:cNvSpPr/>
          <p:nvPr/>
        </p:nvSpPr>
        <p:spPr>
          <a:xfrm>
            <a:off x="548640" y="4846320"/>
            <a:ext cx="10643616" cy="777240"/>
          </a:xfrm>
          <a:prstGeom prst="roundRect">
            <a:avLst>
              <a:gd name="adj" fmla="val 11765"/>
            </a:avLst>
          </a:prstGeom>
          <a:solidFill>
            <a:srgbClr val="163620"/>
          </a:solidFill>
          <a:ln/>
        </p:spPr>
      </p:sp>
      <p:sp>
        <p:nvSpPr>
          <p:cNvPr id="25" name="Text 23"/>
          <p:cNvSpPr/>
          <p:nvPr/>
        </p:nvSpPr>
        <p:spPr>
          <a:xfrm>
            <a:off x="822960" y="4846320"/>
            <a:ext cx="10094976" cy="777240"/>
          </a:xfrm>
          <a:prstGeom prst="rect">
            <a:avLst/>
          </a:prstGeom>
          <a:noFill/>
          <a:ln/>
        </p:spPr>
        <p:txBody>
          <a:bodyPr wrap="square" lIns="0" tIns="0" rIns="0" bIns="0" rtlCol="0" anchor="ctr"/>
          <a:lstStyle/>
          <a:p>
            <a:pPr indent="0" marL="0">
              <a:lnSpc>
                <a:spcPct val="120000"/>
              </a:lnSpc>
              <a:buNone/>
            </a:pPr>
            <a:r>
              <a:rPr lang="en-US" sz="1400" dirty="0">
                <a:solidFill>
                  <a:srgbClr val="D8E4D3"/>
                </a:solidFill>
                <a:latin typeface="Calibri" pitchFamily="34" charset="0"/>
                <a:ea typeface="Calibri" pitchFamily="34" charset="-122"/>
                <a:cs typeface="Calibri" pitchFamily="34" charset="-120"/>
              </a:rPr>
              <a:t>These programs are proven to build interest and confidence. </a:t>
            </a:r>
            <a:pPr indent="0" marL="0">
              <a:lnSpc>
                <a:spcPct val="120000"/>
              </a:lnSpc>
              <a:buNone/>
            </a:pPr>
            <a:r>
              <a:rPr lang="en-US" sz="1400" b="1" dirty="0">
                <a:solidFill>
                  <a:srgbClr val="FFFFFF"/>
                </a:solidFill>
                <a:latin typeface="Calibri" pitchFamily="34" charset="0"/>
                <a:ea typeface="Calibri" pitchFamily="34" charset="-122"/>
                <a:cs typeface="Calibri" pitchFamily="34" charset="-120"/>
              </a:rPr>
              <a:t>Conceptual understanding was never what they were designed to measure.</a:t>
            </a:r>
            <a:endParaRPr lang="en-US" sz="1400" dirty="0"/>
          </a:p>
        </p:txBody>
      </p:sp>
      <p:sp>
        <p:nvSpPr>
          <p:cNvPr id="26" name="Text 24"/>
          <p:cNvSpPr/>
          <p:nvPr/>
        </p:nvSpPr>
        <p:spPr>
          <a:xfrm>
            <a:off x="548640" y="6355080"/>
            <a:ext cx="9601200" cy="320040"/>
          </a:xfrm>
          <a:prstGeom prst="rect">
            <a:avLst/>
          </a:prstGeom>
          <a:noFill/>
          <a:ln/>
        </p:spPr>
        <p:txBody>
          <a:bodyPr wrap="square" lIns="0" tIns="0" rIns="0" bIns="0" rtlCol="0" anchor="ctr"/>
          <a:lstStyle/>
          <a:p>
            <a:pPr indent="0" marL="0">
              <a:buNone/>
            </a:pPr>
            <a:r>
              <a:rPr lang="en-US" sz="1000" i="1" dirty="0">
                <a:solidFill>
                  <a:srgbClr val="6B6B63"/>
                </a:solidFill>
                <a:latin typeface="Calibri" pitchFamily="34" charset="0"/>
                <a:ea typeface="Calibri" pitchFamily="34" charset="-122"/>
                <a:cs typeface="Calibri" pitchFamily="34" charset="-120"/>
              </a:rPr>
              <a:t>Source: PEAR Institute / National Research Council, Learning Science in Informal Environments (2009)</a:t>
            </a:r>
            <a:endParaRPr lang="en-US" sz="1000" dirty="0"/>
          </a:p>
        </p:txBody>
      </p:sp>
      <p:sp>
        <p:nvSpPr>
          <p:cNvPr id="27" name="Text 25"/>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6B6B63"/>
                </a:solidFill>
                <a:latin typeface="Calibri" pitchFamily="34" charset="0"/>
                <a:ea typeface="Calibri" pitchFamily="34" charset="-122"/>
                <a:cs typeface="Calibri" pitchFamily="34" charset="-120"/>
              </a:rPr>
              <a:t>4 / 14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40680" y="384048"/>
            <a:ext cx="1481328" cy="384048"/>
          </a:xfrm>
          <a:prstGeom prst="roundRect">
            <a:avLst>
              <a:gd name="adj" fmla="val 19048"/>
            </a:avLst>
          </a:prstGeom>
          <a:solidFill>
            <a:srgbClr val="E4E1D6"/>
          </a:solidFill>
          <a:ln/>
        </p:spPr>
      </p:sp>
      <p:sp>
        <p:nvSpPr>
          <p:cNvPr id="3" name="Text 1"/>
          <p:cNvSpPr/>
          <p:nvPr/>
        </p:nvSpPr>
        <p:spPr>
          <a:xfrm>
            <a:off x="5495544"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IDENTIFY</a:t>
            </a:r>
            <a:endParaRPr lang="en-US" sz="900" dirty="0"/>
          </a:p>
        </p:txBody>
      </p:sp>
      <p:sp>
        <p:nvSpPr>
          <p:cNvPr id="4" name="Shape 2"/>
          <p:cNvSpPr/>
          <p:nvPr/>
        </p:nvSpPr>
        <p:spPr>
          <a:xfrm>
            <a:off x="7013448" y="384048"/>
            <a:ext cx="1481328" cy="384048"/>
          </a:xfrm>
          <a:prstGeom prst="roundRect">
            <a:avLst>
              <a:gd name="adj" fmla="val 19048"/>
            </a:avLst>
          </a:prstGeom>
          <a:solidFill>
            <a:srgbClr val="D97706"/>
          </a:solidFill>
          <a:ln/>
        </p:spPr>
      </p:sp>
      <p:sp>
        <p:nvSpPr>
          <p:cNvPr id="5" name="Text 3"/>
          <p:cNvSpPr/>
          <p:nvPr/>
        </p:nvSpPr>
        <p:spPr>
          <a:xfrm>
            <a:off x="7068312" y="384048"/>
            <a:ext cx="1371600" cy="38404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RESEARCH</a:t>
            </a:r>
            <a:endParaRPr lang="en-US" sz="900" dirty="0"/>
          </a:p>
        </p:txBody>
      </p:sp>
      <p:sp>
        <p:nvSpPr>
          <p:cNvPr id="6" name="Shape 4"/>
          <p:cNvSpPr/>
          <p:nvPr/>
        </p:nvSpPr>
        <p:spPr>
          <a:xfrm>
            <a:off x="8586216" y="384048"/>
            <a:ext cx="1481328" cy="384048"/>
          </a:xfrm>
          <a:prstGeom prst="roundRect">
            <a:avLst>
              <a:gd name="adj" fmla="val 19048"/>
            </a:avLst>
          </a:prstGeom>
          <a:solidFill>
            <a:srgbClr val="E4E1D6"/>
          </a:solidFill>
          <a:ln/>
        </p:spPr>
      </p:sp>
      <p:sp>
        <p:nvSpPr>
          <p:cNvPr id="7" name="Text 5"/>
          <p:cNvSpPr/>
          <p:nvPr/>
        </p:nvSpPr>
        <p:spPr>
          <a:xfrm>
            <a:off x="8641080"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INNOVATE</a:t>
            </a:r>
            <a:endParaRPr lang="en-US" sz="900" dirty="0"/>
          </a:p>
        </p:txBody>
      </p:sp>
      <p:sp>
        <p:nvSpPr>
          <p:cNvPr id="8" name="Shape 6"/>
          <p:cNvSpPr/>
          <p:nvPr/>
        </p:nvSpPr>
        <p:spPr>
          <a:xfrm>
            <a:off x="10158984" y="384048"/>
            <a:ext cx="1481328" cy="384048"/>
          </a:xfrm>
          <a:prstGeom prst="roundRect">
            <a:avLst>
              <a:gd name="adj" fmla="val 19048"/>
            </a:avLst>
          </a:prstGeom>
          <a:solidFill>
            <a:srgbClr val="E4E1D6"/>
          </a:solidFill>
          <a:ln/>
        </p:spPr>
      </p:sp>
      <p:sp>
        <p:nvSpPr>
          <p:cNvPr id="9" name="Text 7"/>
          <p:cNvSpPr/>
          <p:nvPr/>
        </p:nvSpPr>
        <p:spPr>
          <a:xfrm>
            <a:off x="10213848"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IMPACT</a:t>
            </a:r>
            <a:endParaRPr lang="en-US" sz="900" dirty="0"/>
          </a:p>
        </p:txBody>
      </p:sp>
      <p:sp>
        <p:nvSpPr>
          <p:cNvPr id="10" name="Text 8"/>
          <p:cNvSpPr/>
          <p:nvPr/>
        </p:nvSpPr>
        <p:spPr>
          <a:xfrm>
            <a:off x="548640" y="502920"/>
            <a:ext cx="8229600" cy="36576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RESEARCH — EVIDENCE FOR THE FIX</a:t>
            </a:r>
            <a:endParaRPr lang="en-US" sz="1300" dirty="0"/>
          </a:p>
        </p:txBody>
      </p:sp>
      <p:sp>
        <p:nvSpPr>
          <p:cNvPr id="11" name="Text 9"/>
          <p:cNvSpPr/>
          <p:nvPr/>
        </p:nvSpPr>
        <p:spPr>
          <a:xfrm>
            <a:off x="548640" y="841248"/>
            <a:ext cx="9692640" cy="914400"/>
          </a:xfrm>
          <a:prstGeom prst="rect">
            <a:avLst/>
          </a:prstGeom>
          <a:noFill/>
          <a:ln/>
        </p:spPr>
        <p:txBody>
          <a:bodyPr wrap="square" lIns="0" tIns="0" rIns="0" bIns="0" rtlCol="0" anchor="ctr"/>
          <a:lstStyle/>
          <a:p>
            <a:pPr indent="0" marL="0">
              <a:lnSpc>
                <a:spcPct val="102000"/>
              </a:lnSpc>
              <a:buNone/>
            </a:pPr>
            <a:r>
              <a:rPr lang="en-US" sz="3000" b="1" dirty="0">
                <a:solidFill>
                  <a:srgbClr val="1A1A1A"/>
                </a:solidFill>
                <a:latin typeface="Cambria" pitchFamily="34" charset="0"/>
                <a:ea typeface="Cambria" pitchFamily="34" charset="-122"/>
                <a:cs typeface="Cambria" pitchFamily="34" charset="-120"/>
              </a:rPr>
              <a:t>Not a guess. A documented model.</a:t>
            </a:r>
            <a:endParaRPr lang="en-US" sz="3000" dirty="0"/>
          </a:p>
        </p:txBody>
      </p:sp>
      <p:sp>
        <p:nvSpPr>
          <p:cNvPr id="12" name="Shape 10"/>
          <p:cNvSpPr/>
          <p:nvPr/>
        </p:nvSpPr>
        <p:spPr>
          <a:xfrm>
            <a:off x="548640" y="2194560"/>
            <a:ext cx="5120640" cy="1691640"/>
          </a:xfrm>
          <a:prstGeom prst="roundRect">
            <a:avLst>
              <a:gd name="adj" fmla="val 5405"/>
            </a:avLst>
          </a:prstGeom>
          <a:solidFill>
            <a:srgbClr val="F4F1E8"/>
          </a:solidFill>
          <a:ln/>
        </p:spPr>
      </p:sp>
      <p:sp>
        <p:nvSpPr>
          <p:cNvPr id="13" name="Shape 11"/>
          <p:cNvSpPr/>
          <p:nvPr/>
        </p:nvSpPr>
        <p:spPr>
          <a:xfrm>
            <a:off x="777240" y="2423160"/>
            <a:ext cx="822960" cy="822960"/>
          </a:xfrm>
          <a:prstGeom prst="ellipse">
            <a:avLst/>
          </a:prstGeom>
          <a:solidFill>
            <a:srgbClr val="1F4A2E"/>
          </a:solidFill>
          <a:ln/>
        </p:spPr>
      </p:sp>
      <p:pic>
        <p:nvPicPr>
          <p:cNvPr id="14" name="Image 0" descr="/home/claude/pitch/icons/balance.png">    </p:cNvPr>
          <p:cNvPicPr>
            <a:picLocks noChangeAspect="1"/>
          </p:cNvPicPr>
          <p:nvPr/>
        </p:nvPicPr>
        <p:blipFill>
          <a:blip r:embed="rId1"/>
          <a:stretch>
            <a:fillRect/>
          </a:stretch>
        </p:blipFill>
        <p:spPr>
          <a:xfrm>
            <a:off x="991210" y="2637130"/>
            <a:ext cx="395021" cy="395021"/>
          </a:xfrm>
          <a:prstGeom prst="rect">
            <a:avLst/>
          </a:prstGeom>
        </p:spPr>
      </p:pic>
      <p:sp>
        <p:nvSpPr>
          <p:cNvPr id="15" name="Text 12"/>
          <p:cNvSpPr/>
          <p:nvPr/>
        </p:nvSpPr>
        <p:spPr>
          <a:xfrm>
            <a:off x="1783080" y="2359152"/>
            <a:ext cx="3657600" cy="502920"/>
          </a:xfrm>
          <a:prstGeom prst="rect">
            <a:avLst/>
          </a:prstGeom>
          <a:noFill/>
          <a:ln/>
        </p:spPr>
        <p:txBody>
          <a:bodyPr wrap="square" lIns="0" tIns="0" rIns="0" bIns="0" rtlCol="0" anchor="ctr"/>
          <a:lstStyle/>
          <a:p>
            <a:pPr indent="0" marL="0">
              <a:buNone/>
            </a:pPr>
            <a:r>
              <a:rPr lang="en-US" sz="2400" b="1" dirty="0">
                <a:solidFill>
                  <a:srgbClr val="1A1A1A"/>
                </a:solidFill>
                <a:latin typeface="Cambria" pitchFamily="34" charset="0"/>
                <a:ea typeface="Cambria" pitchFamily="34" charset="-122"/>
                <a:cs typeface="Cambria" pitchFamily="34" charset="-120"/>
              </a:rPr>
              <a:t>0.66</a:t>
            </a:r>
            <a:endParaRPr lang="en-US" sz="2400" dirty="0"/>
          </a:p>
        </p:txBody>
      </p:sp>
      <p:sp>
        <p:nvSpPr>
          <p:cNvPr id="16" name="Text 13"/>
          <p:cNvSpPr/>
          <p:nvPr/>
        </p:nvSpPr>
        <p:spPr>
          <a:xfrm>
            <a:off x="1783080" y="2852928"/>
            <a:ext cx="3657600" cy="77724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effect size: combining hands-on + simulation beats either alone — biggest for the most abstract concepts</a:t>
            </a:r>
            <a:endParaRPr lang="en-US" sz="1150" dirty="0"/>
          </a:p>
        </p:txBody>
      </p:sp>
      <p:sp>
        <p:nvSpPr>
          <p:cNvPr id="17" name="Text 14"/>
          <p:cNvSpPr/>
          <p:nvPr/>
        </p:nvSpPr>
        <p:spPr>
          <a:xfrm>
            <a:off x="1783080" y="3566160"/>
            <a:ext cx="3657600" cy="274320"/>
          </a:xfrm>
          <a:prstGeom prst="rect">
            <a:avLst/>
          </a:prstGeom>
          <a:noFill/>
          <a:ln/>
        </p:spPr>
        <p:txBody>
          <a:bodyPr wrap="square" lIns="0" tIns="0" rIns="0" bIns="0" rtlCol="0" anchor="ctr"/>
          <a:lstStyle/>
          <a:p>
            <a:pPr indent="0" marL="0">
              <a:buNone/>
            </a:pPr>
            <a:r>
              <a:rPr lang="en-US" sz="950" i="1" dirty="0">
                <a:solidFill>
                  <a:srgbClr val="6B6B63"/>
                </a:solidFill>
                <a:latin typeface="Calibri" pitchFamily="34" charset="0"/>
                <a:ea typeface="Calibri" pitchFamily="34" charset="-122"/>
                <a:cs typeface="Calibri" pitchFamily="34" charset="-120"/>
              </a:rPr>
              <a:t>Educational Research Review, 2024</a:t>
            </a:r>
            <a:endParaRPr lang="en-US" sz="950" dirty="0"/>
          </a:p>
        </p:txBody>
      </p:sp>
      <p:sp>
        <p:nvSpPr>
          <p:cNvPr id="18" name="Shape 15"/>
          <p:cNvSpPr/>
          <p:nvPr/>
        </p:nvSpPr>
        <p:spPr>
          <a:xfrm>
            <a:off x="5943600" y="2194560"/>
            <a:ext cx="5120640" cy="1691640"/>
          </a:xfrm>
          <a:prstGeom prst="roundRect">
            <a:avLst>
              <a:gd name="adj" fmla="val 5405"/>
            </a:avLst>
          </a:prstGeom>
          <a:solidFill>
            <a:srgbClr val="F4F1E8"/>
          </a:solidFill>
          <a:ln/>
        </p:spPr>
      </p:sp>
      <p:sp>
        <p:nvSpPr>
          <p:cNvPr id="19" name="Shape 16"/>
          <p:cNvSpPr/>
          <p:nvPr/>
        </p:nvSpPr>
        <p:spPr>
          <a:xfrm>
            <a:off x="6172200" y="2423160"/>
            <a:ext cx="822960" cy="822960"/>
          </a:xfrm>
          <a:prstGeom prst="ellipse">
            <a:avLst/>
          </a:prstGeom>
          <a:solidFill>
            <a:srgbClr val="D97706"/>
          </a:solidFill>
          <a:ln/>
        </p:spPr>
      </p:sp>
      <p:pic>
        <p:nvPicPr>
          <p:cNvPr id="20" name="Image 1" descr="/home/claude/pitch/icons/gradcap.png">    </p:cNvPr>
          <p:cNvPicPr>
            <a:picLocks noChangeAspect="1"/>
          </p:cNvPicPr>
          <p:nvPr/>
        </p:nvPicPr>
        <p:blipFill>
          <a:blip r:embed="rId2"/>
          <a:stretch>
            <a:fillRect/>
          </a:stretch>
        </p:blipFill>
        <p:spPr>
          <a:xfrm>
            <a:off x="6386170" y="2637130"/>
            <a:ext cx="395021" cy="395021"/>
          </a:xfrm>
          <a:prstGeom prst="rect">
            <a:avLst/>
          </a:prstGeom>
        </p:spPr>
      </p:pic>
      <p:sp>
        <p:nvSpPr>
          <p:cNvPr id="21" name="Text 17"/>
          <p:cNvSpPr/>
          <p:nvPr/>
        </p:nvSpPr>
        <p:spPr>
          <a:xfrm>
            <a:off x="7178040" y="2359152"/>
            <a:ext cx="3657600" cy="502920"/>
          </a:xfrm>
          <a:prstGeom prst="rect">
            <a:avLst/>
          </a:prstGeom>
          <a:noFill/>
          <a:ln/>
        </p:spPr>
        <p:txBody>
          <a:bodyPr wrap="square" lIns="0" tIns="0" rIns="0" bIns="0" rtlCol="0" anchor="ctr"/>
          <a:lstStyle/>
          <a:p>
            <a:pPr indent="0" marL="0">
              <a:buNone/>
            </a:pPr>
            <a:r>
              <a:rPr lang="en-US" sz="2400" b="1" dirty="0">
                <a:solidFill>
                  <a:srgbClr val="1A1A1A"/>
                </a:solidFill>
                <a:latin typeface="Cambria" pitchFamily="34" charset="0"/>
                <a:ea typeface="Cambria" pitchFamily="34" charset="-122"/>
                <a:cs typeface="Cambria" pitchFamily="34" charset="-120"/>
              </a:rPr>
              <a:t>d = 0.83</a:t>
            </a:r>
            <a:endParaRPr lang="en-US" sz="2400" dirty="0"/>
          </a:p>
        </p:txBody>
      </p:sp>
      <p:sp>
        <p:nvSpPr>
          <p:cNvPr id="22" name="Text 18"/>
          <p:cNvSpPr/>
          <p:nvPr/>
        </p:nvSpPr>
        <p:spPr>
          <a:xfrm>
            <a:off x="7178040" y="2852928"/>
            <a:ext cx="3657600" cy="77724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large effect on conceptual understanding from PhET simulations specifically</a:t>
            </a:r>
            <a:endParaRPr lang="en-US" sz="1150" dirty="0"/>
          </a:p>
        </p:txBody>
      </p:sp>
      <p:sp>
        <p:nvSpPr>
          <p:cNvPr id="23" name="Text 19"/>
          <p:cNvSpPr/>
          <p:nvPr/>
        </p:nvSpPr>
        <p:spPr>
          <a:xfrm>
            <a:off x="7178040" y="3566160"/>
            <a:ext cx="3657600" cy="274320"/>
          </a:xfrm>
          <a:prstGeom prst="rect">
            <a:avLst/>
          </a:prstGeom>
          <a:noFill/>
          <a:ln/>
        </p:spPr>
        <p:txBody>
          <a:bodyPr wrap="square" lIns="0" tIns="0" rIns="0" bIns="0" rtlCol="0" anchor="ctr"/>
          <a:lstStyle/>
          <a:p>
            <a:pPr indent="0" marL="0">
              <a:buNone/>
            </a:pPr>
            <a:r>
              <a:rPr lang="en-US" sz="950" i="1" dirty="0">
                <a:solidFill>
                  <a:srgbClr val="6B6B63"/>
                </a:solidFill>
                <a:latin typeface="Calibri" pitchFamily="34" charset="0"/>
                <a:ea typeface="Calibri" pitchFamily="34" charset="-122"/>
                <a:cs typeface="Calibri" pitchFamily="34" charset="-120"/>
              </a:rPr>
              <a:t>iJOE meta-analysis, 2024</a:t>
            </a:r>
            <a:endParaRPr lang="en-US" sz="950" dirty="0"/>
          </a:p>
        </p:txBody>
      </p:sp>
      <p:sp>
        <p:nvSpPr>
          <p:cNvPr id="24" name="Shape 20"/>
          <p:cNvSpPr/>
          <p:nvPr/>
        </p:nvSpPr>
        <p:spPr>
          <a:xfrm>
            <a:off x="548640" y="4114800"/>
            <a:ext cx="5120640" cy="1691640"/>
          </a:xfrm>
          <a:prstGeom prst="roundRect">
            <a:avLst>
              <a:gd name="adj" fmla="val 5405"/>
            </a:avLst>
          </a:prstGeom>
          <a:solidFill>
            <a:srgbClr val="F4F1E8"/>
          </a:solidFill>
          <a:ln/>
        </p:spPr>
      </p:sp>
      <p:sp>
        <p:nvSpPr>
          <p:cNvPr id="25" name="Shape 21"/>
          <p:cNvSpPr/>
          <p:nvPr/>
        </p:nvSpPr>
        <p:spPr>
          <a:xfrm>
            <a:off x="777240" y="4343400"/>
            <a:ext cx="822960" cy="822960"/>
          </a:xfrm>
          <a:prstGeom prst="ellipse">
            <a:avLst/>
          </a:prstGeom>
          <a:solidFill>
            <a:srgbClr val="1F4A2E"/>
          </a:solidFill>
          <a:ln/>
        </p:spPr>
      </p:sp>
      <p:pic>
        <p:nvPicPr>
          <p:cNvPr id="26" name="Image 2" descr="/home/claude/pitch/icons/code.png">    </p:cNvPr>
          <p:cNvPicPr>
            <a:picLocks noChangeAspect="1"/>
          </p:cNvPicPr>
          <p:nvPr/>
        </p:nvPicPr>
        <p:blipFill>
          <a:blip r:embed="rId3"/>
          <a:stretch>
            <a:fillRect/>
          </a:stretch>
        </p:blipFill>
        <p:spPr>
          <a:xfrm>
            <a:off x="991210" y="4557370"/>
            <a:ext cx="395021" cy="395021"/>
          </a:xfrm>
          <a:prstGeom prst="rect">
            <a:avLst/>
          </a:prstGeom>
        </p:spPr>
      </p:pic>
      <p:sp>
        <p:nvSpPr>
          <p:cNvPr id="27" name="Text 22"/>
          <p:cNvSpPr/>
          <p:nvPr/>
        </p:nvSpPr>
        <p:spPr>
          <a:xfrm>
            <a:off x="1783080" y="4279392"/>
            <a:ext cx="3657600" cy="502920"/>
          </a:xfrm>
          <a:prstGeom prst="rect">
            <a:avLst/>
          </a:prstGeom>
          <a:noFill/>
          <a:ln/>
        </p:spPr>
        <p:txBody>
          <a:bodyPr wrap="square" lIns="0" tIns="0" rIns="0" bIns="0" rtlCol="0" anchor="ctr"/>
          <a:lstStyle/>
          <a:p>
            <a:pPr indent="0" marL="0">
              <a:buNone/>
            </a:pPr>
            <a:r>
              <a:rPr lang="en-US" sz="2400" b="1" dirty="0">
                <a:solidFill>
                  <a:srgbClr val="1A1A1A"/>
                </a:solidFill>
                <a:latin typeface="Cambria" pitchFamily="34" charset="0"/>
                <a:ea typeface="Cambria" pitchFamily="34" charset="-122"/>
                <a:cs typeface="Cambria" pitchFamily="34" charset="-120"/>
              </a:rPr>
              <a:t>20+ yrs</a:t>
            </a:r>
            <a:endParaRPr lang="en-US" sz="2400" dirty="0"/>
          </a:p>
        </p:txBody>
      </p:sp>
      <p:sp>
        <p:nvSpPr>
          <p:cNvPr id="28" name="Text 23"/>
          <p:cNvSpPr/>
          <p:nvPr/>
        </p:nvSpPr>
        <p:spPr>
          <a:xfrm>
            <a:off x="1783080" y="4773168"/>
            <a:ext cx="3657600" cy="77724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PhET (UC Boulder) and Concord Consortium have run open-source, browser-based sims at this exact scale</a:t>
            </a:r>
            <a:endParaRPr lang="en-US" sz="1150" dirty="0"/>
          </a:p>
        </p:txBody>
      </p:sp>
      <p:sp>
        <p:nvSpPr>
          <p:cNvPr id="29" name="Text 24"/>
          <p:cNvSpPr/>
          <p:nvPr/>
        </p:nvSpPr>
        <p:spPr>
          <a:xfrm>
            <a:off x="1783080" y="5486400"/>
            <a:ext cx="3657600" cy="274320"/>
          </a:xfrm>
          <a:prstGeom prst="rect">
            <a:avLst/>
          </a:prstGeom>
          <a:noFill/>
          <a:ln/>
        </p:spPr>
        <p:txBody>
          <a:bodyPr wrap="square" lIns="0" tIns="0" rIns="0" bIns="0" rtlCol="0" anchor="ctr"/>
          <a:lstStyle/>
          <a:p>
            <a:pPr indent="0" marL="0">
              <a:buNone/>
            </a:pPr>
            <a:r>
              <a:rPr lang="en-US" sz="950" i="1" dirty="0">
                <a:solidFill>
                  <a:srgbClr val="6B6B63"/>
                </a:solidFill>
                <a:latin typeface="Calibri" pitchFamily="34" charset="0"/>
                <a:ea typeface="Calibri" pitchFamily="34" charset="-122"/>
                <a:cs typeface="Calibri" pitchFamily="34" charset="-120"/>
              </a:rPr>
              <a:t>phet.colorado.edu · concord.org</a:t>
            </a:r>
            <a:endParaRPr lang="en-US" sz="950" dirty="0"/>
          </a:p>
        </p:txBody>
      </p:sp>
      <p:sp>
        <p:nvSpPr>
          <p:cNvPr id="30" name="Shape 25"/>
          <p:cNvSpPr/>
          <p:nvPr/>
        </p:nvSpPr>
        <p:spPr>
          <a:xfrm>
            <a:off x="5943600" y="4114800"/>
            <a:ext cx="5120640" cy="1691640"/>
          </a:xfrm>
          <a:prstGeom prst="roundRect">
            <a:avLst>
              <a:gd name="adj" fmla="val 5405"/>
            </a:avLst>
          </a:prstGeom>
          <a:solidFill>
            <a:srgbClr val="F4F1E8"/>
          </a:solidFill>
          <a:ln/>
        </p:spPr>
      </p:sp>
      <p:sp>
        <p:nvSpPr>
          <p:cNvPr id="31" name="Shape 26"/>
          <p:cNvSpPr/>
          <p:nvPr/>
        </p:nvSpPr>
        <p:spPr>
          <a:xfrm>
            <a:off x="6172200" y="4343400"/>
            <a:ext cx="822960" cy="822960"/>
          </a:xfrm>
          <a:prstGeom prst="ellipse">
            <a:avLst/>
          </a:prstGeom>
          <a:solidFill>
            <a:srgbClr val="D97706"/>
          </a:solidFill>
          <a:ln/>
        </p:spPr>
      </p:sp>
      <p:pic>
        <p:nvPicPr>
          <p:cNvPr id="32" name="Image 3" descr="/home/claude/pitch/icons/leaf.png">    </p:cNvPr>
          <p:cNvPicPr>
            <a:picLocks noChangeAspect="1"/>
          </p:cNvPicPr>
          <p:nvPr/>
        </p:nvPicPr>
        <p:blipFill>
          <a:blip r:embed="rId4"/>
          <a:stretch>
            <a:fillRect/>
          </a:stretch>
        </p:blipFill>
        <p:spPr>
          <a:xfrm>
            <a:off x="6386170" y="4557370"/>
            <a:ext cx="395021" cy="395021"/>
          </a:xfrm>
          <a:prstGeom prst="rect">
            <a:avLst/>
          </a:prstGeom>
        </p:spPr>
      </p:pic>
      <p:sp>
        <p:nvSpPr>
          <p:cNvPr id="33" name="Text 27"/>
          <p:cNvSpPr/>
          <p:nvPr/>
        </p:nvSpPr>
        <p:spPr>
          <a:xfrm>
            <a:off x="7178040" y="4279392"/>
            <a:ext cx="3657600" cy="502920"/>
          </a:xfrm>
          <a:prstGeom prst="rect">
            <a:avLst/>
          </a:prstGeom>
          <a:noFill/>
          <a:ln/>
        </p:spPr>
        <p:txBody>
          <a:bodyPr wrap="square" lIns="0" tIns="0" rIns="0" bIns="0" rtlCol="0" anchor="ctr"/>
          <a:lstStyle/>
          <a:p>
            <a:pPr indent="0" marL="0">
              <a:buNone/>
            </a:pPr>
            <a:r>
              <a:rPr lang="en-US" sz="2400" b="1" dirty="0">
                <a:solidFill>
                  <a:srgbClr val="1A1A1A"/>
                </a:solidFill>
                <a:latin typeface="Cambria" pitchFamily="34" charset="0"/>
                <a:ea typeface="Cambria" pitchFamily="34" charset="-122"/>
                <a:cs typeface="Cambria" pitchFamily="34" charset="-120"/>
              </a:rPr>
              <a:t>121,168</a:t>
            </a:r>
            <a:endParaRPr lang="en-US" sz="2400" dirty="0"/>
          </a:p>
        </p:txBody>
      </p:sp>
      <p:sp>
        <p:nvSpPr>
          <p:cNvPr id="34" name="Text 28"/>
          <p:cNvSpPr/>
          <p:nvPr/>
        </p:nvSpPr>
        <p:spPr>
          <a:xfrm>
            <a:off x="7178040" y="4773168"/>
            <a:ext cx="3657600" cy="777240"/>
          </a:xfrm>
          <a:prstGeom prst="rect">
            <a:avLst/>
          </a:prstGeom>
          <a:noFill/>
          <a:ln/>
        </p:spPr>
        <p:txBody>
          <a:bodyPr wrap="square" lIns="0" tIns="0" rIns="0" bIns="0" rtlCol="0" anchor="ctr"/>
          <a:lstStyle/>
          <a:p>
            <a:pPr indent="0" marL="0">
              <a:lnSpc>
                <a:spcPct val="120000"/>
              </a:lnSpc>
              <a:buNone/>
            </a:pPr>
            <a:r>
              <a:rPr lang="en-US" sz="1150" dirty="0">
                <a:solidFill>
                  <a:srgbClr val="1A1A1A"/>
                </a:solidFill>
                <a:latin typeface="Calibri" pitchFamily="34" charset="0"/>
                <a:ea typeface="Calibri" pitchFamily="34" charset="-122"/>
                <a:cs typeface="Calibri" pitchFamily="34" charset="-120"/>
              </a:rPr>
              <a:t>students studied: open resources match or beat closed ones, while saving real money</a:t>
            </a:r>
            <a:endParaRPr lang="en-US" sz="1150" dirty="0"/>
          </a:p>
        </p:txBody>
      </p:sp>
      <p:sp>
        <p:nvSpPr>
          <p:cNvPr id="35" name="Text 29"/>
          <p:cNvSpPr/>
          <p:nvPr/>
        </p:nvSpPr>
        <p:spPr>
          <a:xfrm>
            <a:off x="7178040" y="5486400"/>
            <a:ext cx="3657600" cy="274320"/>
          </a:xfrm>
          <a:prstGeom prst="rect">
            <a:avLst/>
          </a:prstGeom>
          <a:noFill/>
          <a:ln/>
        </p:spPr>
        <p:txBody>
          <a:bodyPr wrap="square" lIns="0" tIns="0" rIns="0" bIns="0" rtlCol="0" anchor="ctr"/>
          <a:lstStyle/>
          <a:p>
            <a:pPr indent="0" marL="0">
              <a:buNone/>
            </a:pPr>
            <a:r>
              <a:rPr lang="en-US" sz="950" i="1" dirty="0">
                <a:solidFill>
                  <a:srgbClr val="6B6B63"/>
                </a:solidFill>
                <a:latin typeface="Calibri" pitchFamily="34" charset="0"/>
                <a:ea typeface="Calibri" pitchFamily="34" charset="-122"/>
                <a:cs typeface="Calibri" pitchFamily="34" charset="-120"/>
              </a:rPr>
              <a:t>Hilton, 2019 (OER synthesis)</a:t>
            </a:r>
            <a:endParaRPr lang="en-US" sz="950" dirty="0"/>
          </a:p>
        </p:txBody>
      </p:sp>
      <p:sp>
        <p:nvSpPr>
          <p:cNvPr id="36" name="Text 30"/>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6B6B63"/>
                </a:solidFill>
                <a:latin typeface="Calibri" pitchFamily="34" charset="0"/>
                <a:ea typeface="Calibri" pitchFamily="34" charset="-122"/>
                <a:cs typeface="Calibri" pitchFamily="34" charset="-120"/>
              </a:rPr>
              <a:t>5 / 14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40680" y="384048"/>
            <a:ext cx="1481328" cy="384048"/>
          </a:xfrm>
          <a:prstGeom prst="roundRect">
            <a:avLst>
              <a:gd name="adj" fmla="val 19048"/>
            </a:avLst>
          </a:prstGeom>
          <a:solidFill>
            <a:srgbClr val="E4E1D6"/>
          </a:solidFill>
          <a:ln/>
        </p:spPr>
      </p:sp>
      <p:sp>
        <p:nvSpPr>
          <p:cNvPr id="3" name="Text 1"/>
          <p:cNvSpPr/>
          <p:nvPr/>
        </p:nvSpPr>
        <p:spPr>
          <a:xfrm>
            <a:off x="5495544"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IDENTIFY</a:t>
            </a:r>
            <a:endParaRPr lang="en-US" sz="900" dirty="0"/>
          </a:p>
        </p:txBody>
      </p:sp>
      <p:sp>
        <p:nvSpPr>
          <p:cNvPr id="4" name="Shape 2"/>
          <p:cNvSpPr/>
          <p:nvPr/>
        </p:nvSpPr>
        <p:spPr>
          <a:xfrm>
            <a:off x="7013448" y="384048"/>
            <a:ext cx="1481328" cy="384048"/>
          </a:xfrm>
          <a:prstGeom prst="roundRect">
            <a:avLst>
              <a:gd name="adj" fmla="val 19048"/>
            </a:avLst>
          </a:prstGeom>
          <a:solidFill>
            <a:srgbClr val="E4E1D6"/>
          </a:solidFill>
          <a:ln/>
        </p:spPr>
      </p:sp>
      <p:sp>
        <p:nvSpPr>
          <p:cNvPr id="5" name="Text 3"/>
          <p:cNvSpPr/>
          <p:nvPr/>
        </p:nvSpPr>
        <p:spPr>
          <a:xfrm>
            <a:off x="7068312"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RESEARCH</a:t>
            </a:r>
            <a:endParaRPr lang="en-US" sz="900" dirty="0"/>
          </a:p>
        </p:txBody>
      </p:sp>
      <p:sp>
        <p:nvSpPr>
          <p:cNvPr id="6" name="Shape 4"/>
          <p:cNvSpPr/>
          <p:nvPr/>
        </p:nvSpPr>
        <p:spPr>
          <a:xfrm>
            <a:off x="8586216" y="384048"/>
            <a:ext cx="1481328" cy="384048"/>
          </a:xfrm>
          <a:prstGeom prst="roundRect">
            <a:avLst>
              <a:gd name="adj" fmla="val 19048"/>
            </a:avLst>
          </a:prstGeom>
          <a:solidFill>
            <a:srgbClr val="1F4A2E"/>
          </a:solidFill>
          <a:ln/>
        </p:spPr>
      </p:sp>
      <p:sp>
        <p:nvSpPr>
          <p:cNvPr id="7" name="Text 5"/>
          <p:cNvSpPr/>
          <p:nvPr/>
        </p:nvSpPr>
        <p:spPr>
          <a:xfrm>
            <a:off x="8641080" y="384048"/>
            <a:ext cx="1371600" cy="38404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INNOVATE</a:t>
            </a:r>
            <a:endParaRPr lang="en-US" sz="900" dirty="0"/>
          </a:p>
        </p:txBody>
      </p:sp>
      <p:sp>
        <p:nvSpPr>
          <p:cNvPr id="8" name="Shape 6"/>
          <p:cNvSpPr/>
          <p:nvPr/>
        </p:nvSpPr>
        <p:spPr>
          <a:xfrm>
            <a:off x="10158984" y="384048"/>
            <a:ext cx="1481328" cy="384048"/>
          </a:xfrm>
          <a:prstGeom prst="roundRect">
            <a:avLst>
              <a:gd name="adj" fmla="val 19048"/>
            </a:avLst>
          </a:prstGeom>
          <a:solidFill>
            <a:srgbClr val="E4E1D6"/>
          </a:solidFill>
          <a:ln/>
        </p:spPr>
      </p:sp>
      <p:sp>
        <p:nvSpPr>
          <p:cNvPr id="9" name="Text 7"/>
          <p:cNvSpPr/>
          <p:nvPr/>
        </p:nvSpPr>
        <p:spPr>
          <a:xfrm>
            <a:off x="10213848"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IMPACT</a:t>
            </a:r>
            <a:endParaRPr lang="en-US" sz="900" dirty="0"/>
          </a:p>
        </p:txBody>
      </p:sp>
      <p:sp>
        <p:nvSpPr>
          <p:cNvPr id="10" name="Text 8"/>
          <p:cNvSpPr/>
          <p:nvPr/>
        </p:nvSpPr>
        <p:spPr>
          <a:xfrm>
            <a:off x="548640" y="502920"/>
            <a:ext cx="8229600" cy="365760"/>
          </a:xfrm>
          <a:prstGeom prst="rect">
            <a:avLst/>
          </a:prstGeom>
          <a:noFill/>
          <a:ln/>
        </p:spPr>
        <p:txBody>
          <a:bodyPr wrap="square" lIns="0" tIns="0" rIns="0" bIns="0" rtlCol="0" anchor="ctr"/>
          <a:lstStyle/>
          <a:p>
            <a:pPr indent="0" marL="0">
              <a:buNone/>
            </a:pPr>
            <a:r>
              <a:rPr lang="en-US" sz="1300" b="1" spc="200" kern="0" dirty="0">
                <a:solidFill>
                  <a:srgbClr val="1F4A2E"/>
                </a:solidFill>
                <a:latin typeface="Calibri" pitchFamily="34" charset="0"/>
                <a:ea typeface="Calibri" pitchFamily="34" charset="-122"/>
                <a:cs typeface="Calibri" pitchFamily="34" charset="-120"/>
              </a:rPr>
              <a:t>INNOVATE — PROPOSE A SOLUTION</a:t>
            </a:r>
            <a:endParaRPr lang="en-US" sz="1300" dirty="0"/>
          </a:p>
        </p:txBody>
      </p:sp>
      <p:sp>
        <p:nvSpPr>
          <p:cNvPr id="11" name="Text 9"/>
          <p:cNvSpPr/>
          <p:nvPr/>
        </p:nvSpPr>
        <p:spPr>
          <a:xfrm>
            <a:off x="548640" y="841248"/>
            <a:ext cx="9692640" cy="914400"/>
          </a:xfrm>
          <a:prstGeom prst="rect">
            <a:avLst/>
          </a:prstGeom>
          <a:noFill/>
          <a:ln/>
        </p:spPr>
        <p:txBody>
          <a:bodyPr wrap="square" lIns="0" tIns="0" rIns="0" bIns="0" rtlCol="0" anchor="ctr"/>
          <a:lstStyle/>
          <a:p>
            <a:pPr indent="0" marL="0">
              <a:lnSpc>
                <a:spcPct val="102000"/>
              </a:lnSpc>
              <a:buNone/>
            </a:pPr>
            <a:r>
              <a:rPr lang="en-US" sz="3000" b="1" dirty="0">
                <a:solidFill>
                  <a:srgbClr val="1A1A1A"/>
                </a:solidFill>
                <a:latin typeface="Cambria" pitchFamily="34" charset="0"/>
                <a:ea typeface="Cambria" pitchFamily="34" charset="-122"/>
                <a:cs typeface="Cambria" pitchFamily="34" charset="-120"/>
              </a:rPr>
              <a:t>One hidden variable.</a:t>
            </a:r>
            <a:endParaRPr lang="en-US" sz="3000" dirty="0"/>
          </a:p>
          <a:p>
            <a:pPr indent="0" marL="0">
              <a:lnSpc>
                <a:spcPct val="102000"/>
              </a:lnSpc>
              <a:buNone/>
            </a:pPr>
            <a:r>
              <a:rPr lang="en-US" sz="3000" b="1" dirty="0">
                <a:solidFill>
                  <a:srgbClr val="1A1A1A"/>
                </a:solidFill>
                <a:latin typeface="Cambria" pitchFamily="34" charset="0"/>
                <a:ea typeface="Cambria" pitchFamily="34" charset="-122"/>
                <a:cs typeface="Cambria" pitchFamily="34" charset="-120"/>
              </a:rPr>
              <a:t>One slider. Under 30 seconds.</a:t>
            </a:r>
            <a:endParaRPr lang="en-US" sz="3000" dirty="0"/>
          </a:p>
        </p:txBody>
      </p:sp>
      <p:sp>
        <p:nvSpPr>
          <p:cNvPr id="12" name="Shape 10"/>
          <p:cNvSpPr/>
          <p:nvPr/>
        </p:nvSpPr>
        <p:spPr>
          <a:xfrm>
            <a:off x="548640" y="2331720"/>
            <a:ext cx="3429000" cy="3063240"/>
          </a:xfrm>
          <a:prstGeom prst="roundRect">
            <a:avLst>
              <a:gd name="adj" fmla="val 2985"/>
            </a:avLst>
          </a:prstGeom>
          <a:solidFill>
            <a:srgbClr val="F4F1E8"/>
          </a:solidFill>
          <a:ln/>
        </p:spPr>
      </p:sp>
      <p:sp>
        <p:nvSpPr>
          <p:cNvPr id="13" name="Shape 11"/>
          <p:cNvSpPr/>
          <p:nvPr/>
        </p:nvSpPr>
        <p:spPr>
          <a:xfrm>
            <a:off x="822960" y="2606040"/>
            <a:ext cx="502920" cy="502920"/>
          </a:xfrm>
          <a:prstGeom prst="ellipse">
            <a:avLst/>
          </a:prstGeom>
          <a:solidFill>
            <a:srgbClr val="1F4A2E"/>
          </a:solidFill>
          <a:ln/>
        </p:spPr>
      </p:sp>
      <p:sp>
        <p:nvSpPr>
          <p:cNvPr id="14" name="Text 12"/>
          <p:cNvSpPr/>
          <p:nvPr/>
        </p:nvSpPr>
        <p:spPr>
          <a:xfrm>
            <a:off x="822960" y="26060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5" name="Text 13"/>
          <p:cNvSpPr/>
          <p:nvPr/>
        </p:nvSpPr>
        <p:spPr>
          <a:xfrm>
            <a:off x="822960" y="3291840"/>
            <a:ext cx="2880360" cy="685800"/>
          </a:xfrm>
          <a:prstGeom prst="rect">
            <a:avLst/>
          </a:prstGeom>
          <a:noFill/>
          <a:ln/>
        </p:spPr>
        <p:txBody>
          <a:bodyPr wrap="square" lIns="0" tIns="0" rIns="0" bIns="0" rtlCol="0" anchor="ctr"/>
          <a:lstStyle/>
          <a:p>
            <a:pPr indent="0" marL="0">
              <a:lnSpc>
                <a:spcPct val="115000"/>
              </a:lnSpc>
              <a:buNone/>
            </a:pPr>
            <a:r>
              <a:rPr lang="en-US" sz="1550" b="1" dirty="0">
                <a:solidFill>
                  <a:srgbClr val="1A1A1A"/>
                </a:solidFill>
                <a:latin typeface="Calibri" pitchFamily="34" charset="0"/>
                <a:ea typeface="Calibri" pitchFamily="34" charset="-122"/>
                <a:cs typeface="Calibri" pitchFamily="34" charset="-120"/>
              </a:rPr>
              <a:t>Find the invisible variable</a:t>
            </a:r>
            <a:endParaRPr lang="en-US" sz="1550" dirty="0"/>
          </a:p>
        </p:txBody>
      </p:sp>
      <p:sp>
        <p:nvSpPr>
          <p:cNvPr id="16" name="Text 14"/>
          <p:cNvSpPr/>
          <p:nvPr/>
        </p:nvSpPr>
        <p:spPr>
          <a:xfrm>
            <a:off x="822960" y="3931920"/>
            <a:ext cx="2880360" cy="1280160"/>
          </a:xfrm>
          <a:prstGeom prst="rect">
            <a:avLst/>
          </a:prstGeom>
          <a:noFill/>
          <a:ln/>
        </p:spPr>
        <p:txBody>
          <a:bodyPr wrap="square" lIns="0" tIns="0" rIns="0" bIns="0" rtlCol="0" anchor="ctr"/>
          <a:lstStyle/>
          <a:p>
            <a:pPr indent="0" marL="0">
              <a:lnSpc>
                <a:spcPct val="128000"/>
              </a:lnSpc>
              <a:buNone/>
            </a:pPr>
            <a:r>
              <a:rPr lang="en-US" sz="1250" dirty="0">
                <a:solidFill>
                  <a:srgbClr val="6B6B63"/>
                </a:solidFill>
                <a:latin typeface="Calibri" pitchFamily="34" charset="0"/>
                <a:ea typeface="Calibri" pitchFamily="34" charset="-122"/>
                <a:cs typeface="Calibri" pitchFamily="34" charset="-120"/>
              </a:rPr>
              <a:t>The one thing the hands-on activity can't isolate — a gap too small, a process too fast, a scale too abstract.</a:t>
            </a:r>
            <a:endParaRPr lang="en-US" sz="1250" dirty="0"/>
          </a:p>
        </p:txBody>
      </p:sp>
      <p:sp>
        <p:nvSpPr>
          <p:cNvPr id="17" name="Shape 15"/>
          <p:cNvSpPr/>
          <p:nvPr/>
        </p:nvSpPr>
        <p:spPr>
          <a:xfrm>
            <a:off x="4233672" y="2331720"/>
            <a:ext cx="3429000" cy="3063240"/>
          </a:xfrm>
          <a:prstGeom prst="roundRect">
            <a:avLst>
              <a:gd name="adj" fmla="val 2985"/>
            </a:avLst>
          </a:prstGeom>
          <a:solidFill>
            <a:srgbClr val="F4F1E8"/>
          </a:solidFill>
          <a:ln/>
        </p:spPr>
      </p:sp>
      <p:sp>
        <p:nvSpPr>
          <p:cNvPr id="18" name="Shape 16"/>
          <p:cNvSpPr/>
          <p:nvPr/>
        </p:nvSpPr>
        <p:spPr>
          <a:xfrm>
            <a:off x="4507992" y="2606040"/>
            <a:ext cx="502920" cy="502920"/>
          </a:xfrm>
          <a:prstGeom prst="ellipse">
            <a:avLst/>
          </a:prstGeom>
          <a:solidFill>
            <a:srgbClr val="D97706"/>
          </a:solidFill>
          <a:ln/>
        </p:spPr>
      </p:sp>
      <p:sp>
        <p:nvSpPr>
          <p:cNvPr id="19" name="Text 17"/>
          <p:cNvSpPr/>
          <p:nvPr/>
        </p:nvSpPr>
        <p:spPr>
          <a:xfrm>
            <a:off x="4507992" y="26060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20" name="Text 18"/>
          <p:cNvSpPr/>
          <p:nvPr/>
        </p:nvSpPr>
        <p:spPr>
          <a:xfrm>
            <a:off x="4507992" y="3291840"/>
            <a:ext cx="2880360" cy="685800"/>
          </a:xfrm>
          <a:prstGeom prst="rect">
            <a:avLst/>
          </a:prstGeom>
          <a:noFill/>
          <a:ln/>
        </p:spPr>
        <p:txBody>
          <a:bodyPr wrap="square" lIns="0" tIns="0" rIns="0" bIns="0" rtlCol="0" anchor="ctr"/>
          <a:lstStyle/>
          <a:p>
            <a:pPr indent="0" marL="0">
              <a:lnSpc>
                <a:spcPct val="115000"/>
              </a:lnSpc>
              <a:buNone/>
            </a:pPr>
            <a:r>
              <a:rPr lang="en-US" sz="1550" b="1" dirty="0">
                <a:solidFill>
                  <a:srgbClr val="1A1A1A"/>
                </a:solidFill>
                <a:latin typeface="Calibri" pitchFamily="34" charset="0"/>
                <a:ea typeface="Calibri" pitchFamily="34" charset="-122"/>
                <a:cs typeface="Calibri" pitchFamily="34" charset="-120"/>
              </a:rPr>
              <a:t>Put it on a single slider</a:t>
            </a:r>
            <a:endParaRPr lang="en-US" sz="1550" dirty="0"/>
          </a:p>
        </p:txBody>
      </p:sp>
      <p:sp>
        <p:nvSpPr>
          <p:cNvPr id="21" name="Text 19"/>
          <p:cNvSpPr/>
          <p:nvPr/>
        </p:nvSpPr>
        <p:spPr>
          <a:xfrm>
            <a:off x="4507992" y="3931920"/>
            <a:ext cx="2880360" cy="1280160"/>
          </a:xfrm>
          <a:prstGeom prst="rect">
            <a:avLst/>
          </a:prstGeom>
          <a:noFill/>
          <a:ln/>
        </p:spPr>
        <p:txBody>
          <a:bodyPr wrap="square" lIns="0" tIns="0" rIns="0" bIns="0" rtlCol="0" anchor="ctr"/>
          <a:lstStyle/>
          <a:p>
            <a:pPr indent="0" marL="0">
              <a:lnSpc>
                <a:spcPct val="128000"/>
              </a:lnSpc>
              <a:buNone/>
            </a:pPr>
            <a:r>
              <a:rPr lang="en-US" sz="1250" dirty="0">
                <a:solidFill>
                  <a:srgbClr val="6B6B63"/>
                </a:solidFill>
                <a:latin typeface="Calibri" pitchFamily="34" charset="0"/>
                <a:ea typeface="Calibri" pitchFamily="34" charset="-122"/>
                <a:cs typeface="Calibri" pitchFamily="34" charset="-120"/>
              </a:rPr>
              <a:t>One control, directly tied to the real mechanism underneath — not a canned animation.</a:t>
            </a:r>
            <a:endParaRPr lang="en-US" sz="1250" dirty="0"/>
          </a:p>
        </p:txBody>
      </p:sp>
      <p:sp>
        <p:nvSpPr>
          <p:cNvPr id="22" name="Shape 20"/>
          <p:cNvSpPr/>
          <p:nvPr/>
        </p:nvSpPr>
        <p:spPr>
          <a:xfrm>
            <a:off x="7918704" y="2331720"/>
            <a:ext cx="3429000" cy="3063240"/>
          </a:xfrm>
          <a:prstGeom prst="roundRect">
            <a:avLst>
              <a:gd name="adj" fmla="val 2985"/>
            </a:avLst>
          </a:prstGeom>
          <a:solidFill>
            <a:srgbClr val="F4F1E8"/>
          </a:solidFill>
          <a:ln/>
        </p:spPr>
      </p:sp>
      <p:sp>
        <p:nvSpPr>
          <p:cNvPr id="23" name="Shape 21"/>
          <p:cNvSpPr/>
          <p:nvPr/>
        </p:nvSpPr>
        <p:spPr>
          <a:xfrm>
            <a:off x="8193024" y="2606040"/>
            <a:ext cx="502920" cy="502920"/>
          </a:xfrm>
          <a:prstGeom prst="ellipse">
            <a:avLst/>
          </a:prstGeom>
          <a:solidFill>
            <a:srgbClr val="1F4A2E"/>
          </a:solidFill>
          <a:ln/>
        </p:spPr>
      </p:sp>
      <p:sp>
        <p:nvSpPr>
          <p:cNvPr id="24" name="Text 22"/>
          <p:cNvSpPr/>
          <p:nvPr/>
        </p:nvSpPr>
        <p:spPr>
          <a:xfrm>
            <a:off x="8193024" y="26060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5" name="Text 23"/>
          <p:cNvSpPr/>
          <p:nvPr/>
        </p:nvSpPr>
        <p:spPr>
          <a:xfrm>
            <a:off x="8193024" y="3291840"/>
            <a:ext cx="2880360" cy="685800"/>
          </a:xfrm>
          <a:prstGeom prst="rect">
            <a:avLst/>
          </a:prstGeom>
          <a:noFill/>
          <a:ln/>
        </p:spPr>
        <p:txBody>
          <a:bodyPr wrap="square" lIns="0" tIns="0" rIns="0" bIns="0" rtlCol="0" anchor="ctr"/>
          <a:lstStyle/>
          <a:p>
            <a:pPr indent="0" marL="0">
              <a:lnSpc>
                <a:spcPct val="115000"/>
              </a:lnSpc>
              <a:buNone/>
            </a:pPr>
            <a:r>
              <a:rPr lang="en-US" sz="1550" b="1" dirty="0">
                <a:solidFill>
                  <a:srgbClr val="1A1A1A"/>
                </a:solidFill>
                <a:latin typeface="Calibri" pitchFamily="34" charset="0"/>
                <a:ea typeface="Calibri" pitchFamily="34" charset="-122"/>
                <a:cs typeface="Calibri" pitchFamily="34" charset="-120"/>
              </a:rPr>
              <a:t>Design for a fast “aha”</a:t>
            </a:r>
            <a:endParaRPr lang="en-US" sz="1550" dirty="0"/>
          </a:p>
        </p:txBody>
      </p:sp>
      <p:sp>
        <p:nvSpPr>
          <p:cNvPr id="26" name="Text 24"/>
          <p:cNvSpPr/>
          <p:nvPr/>
        </p:nvSpPr>
        <p:spPr>
          <a:xfrm>
            <a:off x="8193024" y="3931920"/>
            <a:ext cx="2880360" cy="1280160"/>
          </a:xfrm>
          <a:prstGeom prst="rect">
            <a:avLst/>
          </a:prstGeom>
          <a:noFill/>
          <a:ln/>
        </p:spPr>
        <p:txBody>
          <a:bodyPr wrap="square" lIns="0" tIns="0" rIns="0" bIns="0" rtlCol="0" anchor="ctr"/>
          <a:lstStyle/>
          <a:p>
            <a:pPr indent="0" marL="0">
              <a:lnSpc>
                <a:spcPct val="128000"/>
              </a:lnSpc>
              <a:buNone/>
            </a:pPr>
            <a:r>
              <a:rPr lang="en-US" sz="1250" dirty="0">
                <a:solidFill>
                  <a:srgbClr val="6B6B63"/>
                </a:solidFill>
                <a:latin typeface="Calibri" pitchFamily="34" charset="0"/>
                <a:ea typeface="Calibri" pitchFamily="34" charset="-122"/>
                <a:cs typeface="Calibri" pitchFamily="34" charset="-120"/>
              </a:rPr>
              <a:t>No login, no extra math, no manual. If it doesn't land in 30 seconds, it's not done yet.</a:t>
            </a:r>
            <a:endParaRPr lang="en-US" sz="1250" dirty="0"/>
          </a:p>
        </p:txBody>
      </p:sp>
      <p:sp>
        <p:nvSpPr>
          <p:cNvPr id="27" name="Text 25"/>
          <p:cNvSpPr/>
          <p:nvPr/>
        </p:nvSpPr>
        <p:spPr>
          <a:xfrm>
            <a:off x="548640" y="5623560"/>
            <a:ext cx="10515600" cy="45720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And it's </a:t>
            </a:r>
            <a:pPr indent="0" marL="0">
              <a:buNone/>
            </a:pPr>
            <a:r>
              <a:rPr lang="en-US" sz="1500" b="1" dirty="0">
                <a:solidFill>
                  <a:srgbClr val="1F4A2E"/>
                </a:solidFill>
                <a:latin typeface="Calibri" pitchFamily="34" charset="0"/>
                <a:ea typeface="Calibri" pitchFamily="34" charset="-122"/>
                <a:cs typeface="Calibri" pitchFamily="34" charset="-120"/>
              </a:rPr>
              <a:t>open source</a:t>
            </a:r>
            <a:pPr indent="0" marL="0">
              <a:buNone/>
            </a:pPr>
            <a:r>
              <a:rPr lang="en-US" sz="1500" dirty="0">
                <a:solidFill>
                  <a:srgbClr val="1A1A1A"/>
                </a:solidFill>
                <a:latin typeface="Calibri" pitchFamily="34" charset="0"/>
                <a:ea typeface="Calibri" pitchFamily="34" charset="-122"/>
                <a:cs typeface="Calibri" pitchFamily="34" charset="-120"/>
              </a:rPr>
              <a:t> — free for every future workshop, and every other Janyaa chapter, forever.</a:t>
            </a:r>
            <a:endParaRPr lang="en-US" sz="1500" dirty="0"/>
          </a:p>
        </p:txBody>
      </p:sp>
      <p:sp>
        <p:nvSpPr>
          <p:cNvPr id="28" name="Text 26"/>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6B6B63"/>
                </a:solidFill>
                <a:latin typeface="Calibri" pitchFamily="34" charset="0"/>
                <a:ea typeface="Calibri" pitchFamily="34" charset="-122"/>
                <a:cs typeface="Calibri" pitchFamily="34" charset="-120"/>
              </a:rPr>
              <a:t>6 / 14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3620"/>
        </a:solidFill>
      </p:bgPr>
    </p:bg>
    <p:spTree>
      <p:nvGrpSpPr>
        <p:cNvPr id="1" name=""/>
        <p:cNvGrpSpPr/>
        <p:nvPr/>
      </p:nvGrpSpPr>
      <p:grpSpPr>
        <a:xfrm>
          <a:off x="0" y="0"/>
          <a:ext cx="0" cy="0"/>
          <a:chOff x="0" y="0"/>
          <a:chExt cx="0" cy="0"/>
        </a:xfrm>
      </p:grpSpPr>
      <p:sp>
        <p:nvSpPr>
          <p:cNvPr id="2" name="Shape 0"/>
          <p:cNvSpPr/>
          <p:nvPr/>
        </p:nvSpPr>
        <p:spPr>
          <a:xfrm>
            <a:off x="5440680" y="384048"/>
            <a:ext cx="1481328" cy="384048"/>
          </a:xfrm>
          <a:prstGeom prst="roundRect">
            <a:avLst>
              <a:gd name="adj" fmla="val 19048"/>
            </a:avLst>
          </a:prstGeom>
          <a:solidFill>
            <a:srgbClr val="E4E1D6"/>
          </a:solidFill>
          <a:ln/>
        </p:spPr>
      </p:sp>
      <p:sp>
        <p:nvSpPr>
          <p:cNvPr id="3" name="Text 1"/>
          <p:cNvSpPr/>
          <p:nvPr/>
        </p:nvSpPr>
        <p:spPr>
          <a:xfrm>
            <a:off x="5495544"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IDENTIFY</a:t>
            </a:r>
            <a:endParaRPr lang="en-US" sz="900" dirty="0"/>
          </a:p>
        </p:txBody>
      </p:sp>
      <p:sp>
        <p:nvSpPr>
          <p:cNvPr id="4" name="Shape 2"/>
          <p:cNvSpPr/>
          <p:nvPr/>
        </p:nvSpPr>
        <p:spPr>
          <a:xfrm>
            <a:off x="7013448" y="384048"/>
            <a:ext cx="1481328" cy="384048"/>
          </a:xfrm>
          <a:prstGeom prst="roundRect">
            <a:avLst>
              <a:gd name="adj" fmla="val 19048"/>
            </a:avLst>
          </a:prstGeom>
          <a:solidFill>
            <a:srgbClr val="E4E1D6"/>
          </a:solidFill>
          <a:ln/>
        </p:spPr>
      </p:sp>
      <p:sp>
        <p:nvSpPr>
          <p:cNvPr id="5" name="Text 3"/>
          <p:cNvSpPr/>
          <p:nvPr/>
        </p:nvSpPr>
        <p:spPr>
          <a:xfrm>
            <a:off x="7068312"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RESEARCH</a:t>
            </a:r>
            <a:endParaRPr lang="en-US" sz="900" dirty="0"/>
          </a:p>
        </p:txBody>
      </p:sp>
      <p:sp>
        <p:nvSpPr>
          <p:cNvPr id="6" name="Shape 4"/>
          <p:cNvSpPr/>
          <p:nvPr/>
        </p:nvSpPr>
        <p:spPr>
          <a:xfrm>
            <a:off x="8586216" y="384048"/>
            <a:ext cx="1481328" cy="384048"/>
          </a:xfrm>
          <a:prstGeom prst="roundRect">
            <a:avLst>
              <a:gd name="adj" fmla="val 19048"/>
            </a:avLst>
          </a:prstGeom>
          <a:solidFill>
            <a:srgbClr val="1F4A2E"/>
          </a:solidFill>
          <a:ln/>
        </p:spPr>
      </p:sp>
      <p:sp>
        <p:nvSpPr>
          <p:cNvPr id="7" name="Text 5"/>
          <p:cNvSpPr/>
          <p:nvPr/>
        </p:nvSpPr>
        <p:spPr>
          <a:xfrm>
            <a:off x="8641080" y="384048"/>
            <a:ext cx="1371600" cy="38404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INNOVATE</a:t>
            </a:r>
            <a:endParaRPr lang="en-US" sz="900" dirty="0"/>
          </a:p>
        </p:txBody>
      </p:sp>
      <p:sp>
        <p:nvSpPr>
          <p:cNvPr id="8" name="Shape 6"/>
          <p:cNvSpPr/>
          <p:nvPr/>
        </p:nvSpPr>
        <p:spPr>
          <a:xfrm>
            <a:off x="10158984" y="384048"/>
            <a:ext cx="1481328" cy="384048"/>
          </a:xfrm>
          <a:prstGeom prst="roundRect">
            <a:avLst>
              <a:gd name="adj" fmla="val 19048"/>
            </a:avLst>
          </a:prstGeom>
          <a:solidFill>
            <a:srgbClr val="E4E1D6"/>
          </a:solidFill>
          <a:ln/>
        </p:spPr>
      </p:sp>
      <p:sp>
        <p:nvSpPr>
          <p:cNvPr id="9" name="Text 7"/>
          <p:cNvSpPr/>
          <p:nvPr/>
        </p:nvSpPr>
        <p:spPr>
          <a:xfrm>
            <a:off x="10213848"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IMPACT</a:t>
            </a:r>
            <a:endParaRPr lang="en-US" sz="900" dirty="0"/>
          </a:p>
        </p:txBody>
      </p:sp>
      <p:sp>
        <p:nvSpPr>
          <p:cNvPr id="10" name="Shape 8"/>
          <p:cNvSpPr/>
          <p:nvPr/>
        </p:nvSpPr>
        <p:spPr>
          <a:xfrm>
            <a:off x="548640" y="1234440"/>
            <a:ext cx="914400" cy="914400"/>
          </a:xfrm>
          <a:prstGeom prst="ellipse">
            <a:avLst/>
          </a:prstGeom>
          <a:solidFill>
            <a:srgbClr val="D97706"/>
          </a:solidFill>
          <a:ln/>
        </p:spPr>
      </p:sp>
      <p:pic>
        <p:nvPicPr>
          <p:cNvPr id="11" name="Image 0" descr="/home/claude/pitch/icons/microchip.png">    </p:cNvPr>
          <p:cNvPicPr>
            <a:picLocks noChangeAspect="1"/>
          </p:cNvPicPr>
          <p:nvPr/>
        </p:nvPicPr>
        <p:blipFill>
          <a:blip r:embed="rId1"/>
          <a:stretch>
            <a:fillRect/>
          </a:stretch>
        </p:blipFill>
        <p:spPr>
          <a:xfrm>
            <a:off x="786384" y="1472184"/>
            <a:ext cx="438912" cy="438912"/>
          </a:xfrm>
          <a:prstGeom prst="rect">
            <a:avLst/>
          </a:prstGeom>
        </p:spPr>
      </p:pic>
      <p:sp>
        <p:nvSpPr>
          <p:cNvPr id="12" name="Text 9"/>
          <p:cNvSpPr/>
          <p:nvPr/>
        </p:nvSpPr>
        <p:spPr>
          <a:xfrm>
            <a:off x="1691640" y="1234440"/>
            <a:ext cx="5486400" cy="914400"/>
          </a:xfrm>
          <a:prstGeom prst="rect">
            <a:avLst/>
          </a:prstGeom>
          <a:noFill/>
          <a:ln/>
        </p:spPr>
        <p:txBody>
          <a:bodyPr wrap="square" lIns="0" tIns="0" rIns="0" bIns="0" rtlCol="0" anchor="ctr"/>
          <a:lstStyle/>
          <a:p>
            <a:pPr indent="0" marL="0">
              <a:buNone/>
            </a:pPr>
            <a:r>
              <a:rPr lang="en-US" sz="1400" b="1" spc="200" kern="0" dirty="0">
                <a:solidFill>
                  <a:srgbClr val="D97706"/>
                </a:solidFill>
                <a:latin typeface="Calibri" pitchFamily="34" charset="0"/>
                <a:ea typeface="Calibri" pitchFamily="34" charset="-122"/>
                <a:cs typeface="Calibri" pitchFamily="34" charset="-120"/>
              </a:rPr>
              <a:t>LIVE DEMO</a:t>
            </a:r>
            <a:endParaRPr lang="en-US" sz="1400" dirty="0"/>
          </a:p>
        </p:txBody>
      </p:sp>
      <p:sp>
        <p:nvSpPr>
          <p:cNvPr id="13" name="Text 10"/>
          <p:cNvSpPr/>
          <p:nvPr/>
        </p:nvSpPr>
        <p:spPr>
          <a:xfrm>
            <a:off x="548640" y="2423160"/>
            <a:ext cx="10058400" cy="155448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Why does AI training</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need a graphics card?</a:t>
            </a:r>
            <a:endParaRPr lang="en-US" sz="4000" dirty="0"/>
          </a:p>
        </p:txBody>
      </p:sp>
      <p:sp>
        <p:nvSpPr>
          <p:cNvPr id="14" name="Text 11"/>
          <p:cNvSpPr/>
          <p:nvPr/>
        </p:nvSpPr>
        <p:spPr>
          <a:xfrm>
            <a:off x="548640" y="4160520"/>
            <a:ext cx="8503920" cy="822960"/>
          </a:xfrm>
          <a:prstGeom prst="rect">
            <a:avLst/>
          </a:prstGeom>
          <a:noFill/>
          <a:ln/>
        </p:spPr>
        <p:txBody>
          <a:bodyPr wrap="square" lIns="0" tIns="0" rIns="0" bIns="0" rtlCol="0" anchor="ctr"/>
          <a:lstStyle/>
          <a:p>
            <a:pPr indent="0" marL="0">
              <a:lnSpc>
                <a:spcPct val="130000"/>
              </a:lnSpc>
              <a:buNone/>
            </a:pPr>
            <a:r>
              <a:rPr lang="en-US" sz="1600" dirty="0">
                <a:solidFill>
                  <a:srgbClr val="D8E4D3"/>
                </a:solidFill>
                <a:latin typeface="Calibri" pitchFamily="34" charset="0"/>
                <a:ea typeface="Calibri" pitchFamily="34" charset="-122"/>
                <a:cs typeface="Calibri" pitchFamily="34" charset="-120"/>
              </a:rPr>
              <a:t>Same-size chip. One spends its space on control logic, one spends it on math units. Watch what happens when the workload changes from “all identical” to “all different.”</a:t>
            </a:r>
            <a:endParaRPr lang="en-US" sz="1600" dirty="0"/>
          </a:p>
        </p:txBody>
      </p:sp>
      <p:sp>
        <p:nvSpPr>
          <p:cNvPr id="15" name="Text 12"/>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6B6B63"/>
                </a:solidFill>
                <a:latin typeface="Calibri" pitchFamily="34" charset="0"/>
                <a:ea typeface="Calibri" pitchFamily="34" charset="-122"/>
                <a:cs typeface="Calibri" pitchFamily="34" charset="-120"/>
              </a:rPr>
              <a:t>7 / 14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40680" y="384048"/>
            <a:ext cx="1481328" cy="384048"/>
          </a:xfrm>
          <a:prstGeom prst="roundRect">
            <a:avLst>
              <a:gd name="adj" fmla="val 19048"/>
            </a:avLst>
          </a:prstGeom>
          <a:solidFill>
            <a:srgbClr val="E4E1D6"/>
          </a:solidFill>
          <a:ln/>
        </p:spPr>
      </p:sp>
      <p:sp>
        <p:nvSpPr>
          <p:cNvPr id="3" name="Text 1"/>
          <p:cNvSpPr/>
          <p:nvPr/>
        </p:nvSpPr>
        <p:spPr>
          <a:xfrm>
            <a:off x="5495544"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IDENTIFY</a:t>
            </a:r>
            <a:endParaRPr lang="en-US" sz="900" dirty="0"/>
          </a:p>
        </p:txBody>
      </p:sp>
      <p:sp>
        <p:nvSpPr>
          <p:cNvPr id="4" name="Shape 2"/>
          <p:cNvSpPr/>
          <p:nvPr/>
        </p:nvSpPr>
        <p:spPr>
          <a:xfrm>
            <a:off x="7013448" y="384048"/>
            <a:ext cx="1481328" cy="384048"/>
          </a:xfrm>
          <a:prstGeom prst="roundRect">
            <a:avLst>
              <a:gd name="adj" fmla="val 19048"/>
            </a:avLst>
          </a:prstGeom>
          <a:solidFill>
            <a:srgbClr val="E4E1D6"/>
          </a:solidFill>
          <a:ln/>
        </p:spPr>
      </p:sp>
      <p:sp>
        <p:nvSpPr>
          <p:cNvPr id="5" name="Text 3"/>
          <p:cNvSpPr/>
          <p:nvPr/>
        </p:nvSpPr>
        <p:spPr>
          <a:xfrm>
            <a:off x="7068312"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RESEARCH</a:t>
            </a:r>
            <a:endParaRPr lang="en-US" sz="900" dirty="0"/>
          </a:p>
        </p:txBody>
      </p:sp>
      <p:sp>
        <p:nvSpPr>
          <p:cNvPr id="6" name="Shape 4"/>
          <p:cNvSpPr/>
          <p:nvPr/>
        </p:nvSpPr>
        <p:spPr>
          <a:xfrm>
            <a:off x="8586216" y="384048"/>
            <a:ext cx="1481328" cy="384048"/>
          </a:xfrm>
          <a:prstGeom prst="roundRect">
            <a:avLst>
              <a:gd name="adj" fmla="val 19048"/>
            </a:avLst>
          </a:prstGeom>
          <a:solidFill>
            <a:srgbClr val="1F4A2E"/>
          </a:solidFill>
          <a:ln/>
        </p:spPr>
      </p:sp>
      <p:sp>
        <p:nvSpPr>
          <p:cNvPr id="7" name="Text 5"/>
          <p:cNvSpPr/>
          <p:nvPr/>
        </p:nvSpPr>
        <p:spPr>
          <a:xfrm>
            <a:off x="8641080" y="384048"/>
            <a:ext cx="1371600" cy="38404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INNOVATE</a:t>
            </a:r>
            <a:endParaRPr lang="en-US" sz="900" dirty="0"/>
          </a:p>
        </p:txBody>
      </p:sp>
      <p:sp>
        <p:nvSpPr>
          <p:cNvPr id="8" name="Shape 6"/>
          <p:cNvSpPr/>
          <p:nvPr/>
        </p:nvSpPr>
        <p:spPr>
          <a:xfrm>
            <a:off x="10158984" y="384048"/>
            <a:ext cx="1481328" cy="384048"/>
          </a:xfrm>
          <a:prstGeom prst="roundRect">
            <a:avLst>
              <a:gd name="adj" fmla="val 19048"/>
            </a:avLst>
          </a:prstGeom>
          <a:solidFill>
            <a:srgbClr val="E4E1D6"/>
          </a:solidFill>
          <a:ln/>
        </p:spPr>
      </p:sp>
      <p:sp>
        <p:nvSpPr>
          <p:cNvPr id="9" name="Text 7"/>
          <p:cNvSpPr/>
          <p:nvPr/>
        </p:nvSpPr>
        <p:spPr>
          <a:xfrm>
            <a:off x="10213848"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IMPACT</a:t>
            </a:r>
            <a:endParaRPr lang="en-US" sz="900" dirty="0"/>
          </a:p>
        </p:txBody>
      </p:sp>
      <p:sp>
        <p:nvSpPr>
          <p:cNvPr id="10" name="Text 8"/>
          <p:cNvSpPr/>
          <p:nvPr/>
        </p:nvSpPr>
        <p:spPr>
          <a:xfrm>
            <a:off x="548640" y="502920"/>
            <a:ext cx="8229600" cy="365760"/>
          </a:xfrm>
          <a:prstGeom prst="rect">
            <a:avLst/>
          </a:prstGeom>
          <a:noFill/>
          <a:ln/>
        </p:spPr>
        <p:txBody>
          <a:bodyPr wrap="square" lIns="0" tIns="0" rIns="0" bIns="0" rtlCol="0" anchor="ctr"/>
          <a:lstStyle/>
          <a:p>
            <a:pPr indent="0" marL="0">
              <a:buNone/>
            </a:pPr>
            <a:r>
              <a:rPr lang="en-US" sz="1300" b="1" spc="200" kern="0" dirty="0">
                <a:solidFill>
                  <a:srgbClr val="1F4A2E"/>
                </a:solidFill>
                <a:latin typeface="Calibri" pitchFamily="34" charset="0"/>
                <a:ea typeface="Calibri" pitchFamily="34" charset="-122"/>
                <a:cs typeface="Calibri" pitchFamily="34" charset="-120"/>
              </a:rPr>
              <a:t>INNOVATE — ONE METHOD, FOUR TRACKS</a:t>
            </a:r>
            <a:endParaRPr lang="en-US" sz="1300" dirty="0"/>
          </a:p>
        </p:txBody>
      </p:sp>
      <p:sp>
        <p:nvSpPr>
          <p:cNvPr id="11" name="Text 9"/>
          <p:cNvSpPr/>
          <p:nvPr/>
        </p:nvSpPr>
        <p:spPr>
          <a:xfrm>
            <a:off x="548640" y="841248"/>
            <a:ext cx="6858000" cy="914400"/>
          </a:xfrm>
          <a:prstGeom prst="rect">
            <a:avLst/>
          </a:prstGeom>
          <a:noFill/>
          <a:ln/>
        </p:spPr>
        <p:txBody>
          <a:bodyPr wrap="square" lIns="0" tIns="0" rIns="0" bIns="0" rtlCol="0" anchor="ctr"/>
          <a:lstStyle/>
          <a:p>
            <a:pPr indent="0" marL="0">
              <a:lnSpc>
                <a:spcPct val="102000"/>
              </a:lnSpc>
              <a:buNone/>
            </a:pPr>
            <a:r>
              <a:rPr lang="en-US" sz="3000" b="1" dirty="0">
                <a:solidFill>
                  <a:srgbClr val="1A1A1A"/>
                </a:solidFill>
                <a:latin typeface="Cambria" pitchFamily="34" charset="0"/>
                <a:ea typeface="Cambria" pitchFamily="34" charset="-122"/>
                <a:cs typeface="Cambria" pitchFamily="34" charset="-120"/>
              </a:rPr>
              <a:t>Not one lucky example.</a:t>
            </a:r>
            <a:endParaRPr lang="en-US" sz="3000" dirty="0"/>
          </a:p>
        </p:txBody>
      </p:sp>
      <p:sp>
        <p:nvSpPr>
          <p:cNvPr id="12" name="Shape 10"/>
          <p:cNvSpPr/>
          <p:nvPr/>
        </p:nvSpPr>
        <p:spPr>
          <a:xfrm>
            <a:off x="7863840" y="932688"/>
            <a:ext cx="2331720" cy="777240"/>
          </a:xfrm>
          <a:prstGeom prst="roundRect">
            <a:avLst>
              <a:gd name="adj" fmla="val 14118"/>
            </a:avLst>
          </a:prstGeom>
          <a:solidFill>
            <a:srgbClr val="D97706"/>
          </a:solidFill>
          <a:ln/>
        </p:spPr>
      </p:sp>
      <p:sp>
        <p:nvSpPr>
          <p:cNvPr id="13" name="Text 11"/>
          <p:cNvSpPr/>
          <p:nvPr/>
        </p:nvSpPr>
        <p:spPr>
          <a:xfrm>
            <a:off x="8001000" y="960120"/>
            <a:ext cx="868680" cy="73152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15</a:t>
            </a:r>
            <a:endParaRPr lang="en-US" sz="3600" dirty="0"/>
          </a:p>
        </p:txBody>
      </p:sp>
      <p:sp>
        <p:nvSpPr>
          <p:cNvPr id="14" name="Text 12"/>
          <p:cNvSpPr/>
          <p:nvPr/>
        </p:nvSpPr>
        <p:spPr>
          <a:xfrm>
            <a:off x="8869680" y="987552"/>
            <a:ext cx="1234440" cy="685800"/>
          </a:xfrm>
          <a:prstGeom prst="rect">
            <a:avLst/>
          </a:prstGeom>
          <a:noFill/>
          <a:ln/>
        </p:spPr>
        <p:txBody>
          <a:bodyPr wrap="square" lIns="0" tIns="0" rIns="0" bIns="0" rtlCol="0" anchor="ctr"/>
          <a:lstStyle/>
          <a:p>
            <a:pPr indent="0" marL="0">
              <a:lnSpc>
                <a:spcPct val="110000"/>
              </a:lnSpc>
              <a:buNone/>
            </a:pPr>
            <a:r>
              <a:rPr lang="en-US" sz="1100" b="1" dirty="0">
                <a:solidFill>
                  <a:srgbClr val="FFFFFF"/>
                </a:solidFill>
                <a:latin typeface="Calibri" pitchFamily="34" charset="0"/>
                <a:ea typeface="Calibri" pitchFamily="34" charset="-122"/>
                <a:cs typeface="Calibri" pitchFamily="34" charset="-120"/>
              </a:rPr>
              <a:t>simulations,</a:t>
            </a:r>
            <a:endParaRPr lang="en-US" sz="1100" dirty="0"/>
          </a:p>
          <a:p>
            <a:pPr indent="0" marL="0">
              <a:lnSpc>
                <a:spcPct val="110000"/>
              </a:lnSpc>
              <a:buNone/>
            </a:pPr>
            <a:r>
              <a:rPr lang="en-US" sz="1100" b="1" dirty="0">
                <a:solidFill>
                  <a:srgbClr val="FFFFFF"/>
                </a:solidFill>
                <a:latin typeface="Calibri" pitchFamily="34" charset="0"/>
                <a:ea typeface="Calibri" pitchFamily="34" charset="-122"/>
                <a:cs typeface="Calibri" pitchFamily="34" charset="-120"/>
              </a:rPr>
              <a:t>all open source</a:t>
            </a:r>
            <a:endParaRPr lang="en-US" sz="1100" dirty="0"/>
          </a:p>
        </p:txBody>
      </p:sp>
      <p:sp>
        <p:nvSpPr>
          <p:cNvPr id="15" name="Shape 13"/>
          <p:cNvSpPr/>
          <p:nvPr/>
        </p:nvSpPr>
        <p:spPr>
          <a:xfrm>
            <a:off x="548640" y="2103120"/>
            <a:ext cx="2606040" cy="3291840"/>
          </a:xfrm>
          <a:prstGeom prst="roundRect">
            <a:avLst>
              <a:gd name="adj" fmla="val 3158"/>
            </a:avLst>
          </a:prstGeom>
          <a:solidFill>
            <a:srgbClr val="F4F1E8"/>
          </a:solidFill>
          <a:ln/>
        </p:spPr>
      </p:sp>
      <p:sp>
        <p:nvSpPr>
          <p:cNvPr id="16" name="Shape 14"/>
          <p:cNvSpPr/>
          <p:nvPr/>
        </p:nvSpPr>
        <p:spPr>
          <a:xfrm>
            <a:off x="548640" y="2103120"/>
            <a:ext cx="2606040" cy="475488"/>
          </a:xfrm>
          <a:prstGeom prst="roundRect">
            <a:avLst>
              <a:gd name="adj" fmla="val 17308"/>
            </a:avLst>
          </a:prstGeom>
          <a:solidFill>
            <a:srgbClr val="1F4A2E"/>
          </a:solidFill>
          <a:ln/>
        </p:spPr>
      </p:sp>
      <p:sp>
        <p:nvSpPr>
          <p:cNvPr id="17" name="Text 15"/>
          <p:cNvSpPr/>
          <p:nvPr/>
        </p:nvSpPr>
        <p:spPr>
          <a:xfrm>
            <a:off x="731520" y="2103120"/>
            <a:ext cx="2240280" cy="475488"/>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COMPUTERS   6</a:t>
            </a:r>
            <a:endParaRPr lang="en-US" sz="1050" dirty="0"/>
          </a:p>
        </p:txBody>
      </p:sp>
      <p:sp>
        <p:nvSpPr>
          <p:cNvPr id="18" name="Text 16"/>
          <p:cNvSpPr/>
          <p:nvPr/>
        </p:nvSpPr>
        <p:spPr>
          <a:xfrm>
            <a:off x="749808" y="2724912"/>
            <a:ext cx="2203704" cy="38404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CPU vs. GPU</a:t>
            </a:r>
            <a:endParaRPr lang="en-US" sz="1250" dirty="0"/>
          </a:p>
        </p:txBody>
      </p:sp>
      <p:sp>
        <p:nvSpPr>
          <p:cNvPr id="19" name="Text 17"/>
          <p:cNvSpPr/>
          <p:nvPr/>
        </p:nvSpPr>
        <p:spPr>
          <a:xfrm>
            <a:off x="749808" y="3145536"/>
            <a:ext cx="2203704" cy="38404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SSD vs. HDD</a:t>
            </a:r>
            <a:endParaRPr lang="en-US" sz="1250" dirty="0"/>
          </a:p>
        </p:txBody>
      </p:sp>
      <p:sp>
        <p:nvSpPr>
          <p:cNvPr id="20" name="Text 18"/>
          <p:cNvSpPr/>
          <p:nvPr/>
        </p:nvSpPr>
        <p:spPr>
          <a:xfrm>
            <a:off x="749808" y="3566160"/>
            <a:ext cx="2203704" cy="38404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Memory Hierarchy</a:t>
            </a:r>
            <a:endParaRPr lang="en-US" sz="1250" dirty="0"/>
          </a:p>
        </p:txBody>
      </p:sp>
      <p:sp>
        <p:nvSpPr>
          <p:cNvPr id="21" name="Text 19"/>
          <p:cNvSpPr/>
          <p:nvPr/>
        </p:nvSpPr>
        <p:spPr>
          <a:xfrm>
            <a:off x="749808" y="3986784"/>
            <a:ext cx="2203704" cy="38404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PC Bottleneck</a:t>
            </a:r>
            <a:endParaRPr lang="en-US" sz="1250" dirty="0"/>
          </a:p>
        </p:txBody>
      </p:sp>
      <p:sp>
        <p:nvSpPr>
          <p:cNvPr id="22" name="Text 20"/>
          <p:cNvSpPr/>
          <p:nvPr/>
        </p:nvSpPr>
        <p:spPr>
          <a:xfrm>
            <a:off x="749808" y="4407408"/>
            <a:ext cx="2203704" cy="38404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Two's Complement</a:t>
            </a:r>
            <a:endParaRPr lang="en-US" sz="1250" dirty="0"/>
          </a:p>
        </p:txBody>
      </p:sp>
      <p:sp>
        <p:nvSpPr>
          <p:cNvPr id="23" name="Text 21"/>
          <p:cNvSpPr/>
          <p:nvPr/>
        </p:nvSpPr>
        <p:spPr>
          <a:xfrm>
            <a:off x="749808" y="4828032"/>
            <a:ext cx="2203704" cy="38404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Variable Swap</a:t>
            </a:r>
            <a:endParaRPr lang="en-US" sz="1250" dirty="0"/>
          </a:p>
        </p:txBody>
      </p:sp>
      <p:sp>
        <p:nvSpPr>
          <p:cNvPr id="24" name="Shape 22"/>
          <p:cNvSpPr/>
          <p:nvPr/>
        </p:nvSpPr>
        <p:spPr>
          <a:xfrm>
            <a:off x="3374136" y="2103120"/>
            <a:ext cx="2606040" cy="3291840"/>
          </a:xfrm>
          <a:prstGeom prst="roundRect">
            <a:avLst>
              <a:gd name="adj" fmla="val 3158"/>
            </a:avLst>
          </a:prstGeom>
          <a:solidFill>
            <a:srgbClr val="F4F1E8"/>
          </a:solidFill>
          <a:ln/>
        </p:spPr>
      </p:sp>
      <p:sp>
        <p:nvSpPr>
          <p:cNvPr id="25" name="Shape 23"/>
          <p:cNvSpPr/>
          <p:nvPr/>
        </p:nvSpPr>
        <p:spPr>
          <a:xfrm>
            <a:off x="3374136" y="2103120"/>
            <a:ext cx="2606040" cy="475488"/>
          </a:xfrm>
          <a:prstGeom prst="roundRect">
            <a:avLst>
              <a:gd name="adj" fmla="val 17308"/>
            </a:avLst>
          </a:prstGeom>
          <a:solidFill>
            <a:srgbClr val="D97706"/>
          </a:solidFill>
          <a:ln/>
        </p:spPr>
      </p:sp>
      <p:sp>
        <p:nvSpPr>
          <p:cNvPr id="26" name="Text 24"/>
          <p:cNvSpPr/>
          <p:nvPr/>
        </p:nvSpPr>
        <p:spPr>
          <a:xfrm>
            <a:off x="3557016" y="2103120"/>
            <a:ext cx="2240280" cy="475488"/>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ELECTRONICS   4</a:t>
            </a:r>
            <a:endParaRPr lang="en-US" sz="1050" dirty="0"/>
          </a:p>
        </p:txBody>
      </p:sp>
      <p:sp>
        <p:nvSpPr>
          <p:cNvPr id="27" name="Text 25"/>
          <p:cNvSpPr/>
          <p:nvPr/>
        </p:nvSpPr>
        <p:spPr>
          <a:xfrm>
            <a:off x="3575304" y="2724912"/>
            <a:ext cx="2203704" cy="38404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Cable Heat</a:t>
            </a:r>
            <a:endParaRPr lang="en-US" sz="1250" dirty="0"/>
          </a:p>
        </p:txBody>
      </p:sp>
      <p:sp>
        <p:nvSpPr>
          <p:cNvPr id="28" name="Text 26"/>
          <p:cNvSpPr/>
          <p:nvPr/>
        </p:nvSpPr>
        <p:spPr>
          <a:xfrm>
            <a:off x="3575304" y="3145536"/>
            <a:ext cx="2203704" cy="38404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Capacitor Discharge</a:t>
            </a:r>
            <a:endParaRPr lang="en-US" sz="1250" dirty="0"/>
          </a:p>
        </p:txBody>
      </p:sp>
      <p:sp>
        <p:nvSpPr>
          <p:cNvPr id="29" name="Text 27"/>
          <p:cNvSpPr/>
          <p:nvPr/>
        </p:nvSpPr>
        <p:spPr>
          <a:xfrm>
            <a:off x="3575304" y="3566160"/>
            <a:ext cx="2203704" cy="38404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Series vs. Parallel</a:t>
            </a:r>
            <a:endParaRPr lang="en-US" sz="1250" dirty="0"/>
          </a:p>
        </p:txBody>
      </p:sp>
      <p:sp>
        <p:nvSpPr>
          <p:cNvPr id="30" name="Text 28"/>
          <p:cNvSpPr/>
          <p:nvPr/>
        </p:nvSpPr>
        <p:spPr>
          <a:xfrm>
            <a:off x="3575304" y="3986784"/>
            <a:ext cx="2203704" cy="38404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USB Charging</a:t>
            </a:r>
            <a:endParaRPr lang="en-US" sz="1250" dirty="0"/>
          </a:p>
        </p:txBody>
      </p:sp>
      <p:sp>
        <p:nvSpPr>
          <p:cNvPr id="31" name="Shape 29"/>
          <p:cNvSpPr/>
          <p:nvPr/>
        </p:nvSpPr>
        <p:spPr>
          <a:xfrm>
            <a:off x="6199632" y="2103120"/>
            <a:ext cx="2606040" cy="3291840"/>
          </a:xfrm>
          <a:prstGeom prst="roundRect">
            <a:avLst>
              <a:gd name="adj" fmla="val 3158"/>
            </a:avLst>
          </a:prstGeom>
          <a:solidFill>
            <a:srgbClr val="F4F1E8"/>
          </a:solidFill>
          <a:ln/>
        </p:spPr>
      </p:sp>
      <p:sp>
        <p:nvSpPr>
          <p:cNvPr id="32" name="Shape 30"/>
          <p:cNvSpPr/>
          <p:nvPr/>
        </p:nvSpPr>
        <p:spPr>
          <a:xfrm>
            <a:off x="6199632" y="2103120"/>
            <a:ext cx="2606040" cy="475488"/>
          </a:xfrm>
          <a:prstGeom prst="roundRect">
            <a:avLst>
              <a:gd name="adj" fmla="val 17308"/>
            </a:avLst>
          </a:prstGeom>
          <a:solidFill>
            <a:srgbClr val="1F4A2E"/>
          </a:solidFill>
          <a:ln/>
        </p:spPr>
      </p:sp>
      <p:sp>
        <p:nvSpPr>
          <p:cNvPr id="33" name="Text 31"/>
          <p:cNvSpPr/>
          <p:nvPr/>
        </p:nvSpPr>
        <p:spPr>
          <a:xfrm>
            <a:off x="6382512" y="2103120"/>
            <a:ext cx="2240280" cy="475488"/>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PHYSICS   2</a:t>
            </a:r>
            <a:endParaRPr lang="en-US" sz="1050" dirty="0"/>
          </a:p>
        </p:txBody>
      </p:sp>
      <p:sp>
        <p:nvSpPr>
          <p:cNvPr id="34" name="Text 32"/>
          <p:cNvSpPr/>
          <p:nvPr/>
        </p:nvSpPr>
        <p:spPr>
          <a:xfrm>
            <a:off x="6400800" y="2724912"/>
            <a:ext cx="2203704" cy="38404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Metal vs. Wood</a:t>
            </a:r>
            <a:endParaRPr lang="en-US" sz="1250" dirty="0"/>
          </a:p>
        </p:txBody>
      </p:sp>
      <p:sp>
        <p:nvSpPr>
          <p:cNvPr id="35" name="Text 33"/>
          <p:cNvSpPr/>
          <p:nvPr/>
        </p:nvSpPr>
        <p:spPr>
          <a:xfrm>
            <a:off x="6400800" y="3145536"/>
            <a:ext cx="2203704" cy="38404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Resonance</a:t>
            </a:r>
            <a:endParaRPr lang="en-US" sz="1250" dirty="0"/>
          </a:p>
        </p:txBody>
      </p:sp>
      <p:sp>
        <p:nvSpPr>
          <p:cNvPr id="36" name="Shape 34"/>
          <p:cNvSpPr/>
          <p:nvPr/>
        </p:nvSpPr>
        <p:spPr>
          <a:xfrm>
            <a:off x="9025128" y="2103120"/>
            <a:ext cx="2606040" cy="3291840"/>
          </a:xfrm>
          <a:prstGeom prst="roundRect">
            <a:avLst>
              <a:gd name="adj" fmla="val 3158"/>
            </a:avLst>
          </a:prstGeom>
          <a:solidFill>
            <a:srgbClr val="F4F1E8"/>
          </a:solidFill>
          <a:ln/>
        </p:spPr>
      </p:sp>
      <p:sp>
        <p:nvSpPr>
          <p:cNvPr id="37" name="Shape 35"/>
          <p:cNvSpPr/>
          <p:nvPr/>
        </p:nvSpPr>
        <p:spPr>
          <a:xfrm>
            <a:off x="9025128" y="2103120"/>
            <a:ext cx="2606040" cy="475488"/>
          </a:xfrm>
          <a:prstGeom prst="roundRect">
            <a:avLst>
              <a:gd name="adj" fmla="val 17308"/>
            </a:avLst>
          </a:prstGeom>
          <a:solidFill>
            <a:srgbClr val="D97706"/>
          </a:solidFill>
          <a:ln/>
        </p:spPr>
      </p:sp>
      <p:sp>
        <p:nvSpPr>
          <p:cNvPr id="38" name="Text 36"/>
          <p:cNvSpPr/>
          <p:nvPr/>
        </p:nvSpPr>
        <p:spPr>
          <a:xfrm>
            <a:off x="9208008" y="2103120"/>
            <a:ext cx="2240280" cy="475488"/>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MATH   3</a:t>
            </a:r>
            <a:endParaRPr lang="en-US" sz="1050" dirty="0"/>
          </a:p>
        </p:txBody>
      </p:sp>
      <p:sp>
        <p:nvSpPr>
          <p:cNvPr id="39" name="Text 37"/>
          <p:cNvSpPr/>
          <p:nvPr/>
        </p:nvSpPr>
        <p:spPr>
          <a:xfrm>
            <a:off x="9226296" y="2724912"/>
            <a:ext cx="2203704" cy="38404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Square-Cube Law</a:t>
            </a:r>
            <a:endParaRPr lang="en-US" sz="1250" dirty="0"/>
          </a:p>
        </p:txBody>
      </p:sp>
      <p:sp>
        <p:nvSpPr>
          <p:cNvPr id="40" name="Text 38"/>
          <p:cNvSpPr/>
          <p:nvPr/>
        </p:nvSpPr>
        <p:spPr>
          <a:xfrm>
            <a:off x="9226296" y="3145536"/>
            <a:ext cx="2203704" cy="38404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Binary vs. Linear Search</a:t>
            </a:r>
            <a:endParaRPr lang="en-US" sz="1250" dirty="0"/>
          </a:p>
        </p:txBody>
      </p:sp>
      <p:sp>
        <p:nvSpPr>
          <p:cNvPr id="41" name="Text 39"/>
          <p:cNvSpPr/>
          <p:nvPr/>
        </p:nvSpPr>
        <p:spPr>
          <a:xfrm>
            <a:off x="9226296" y="3566160"/>
            <a:ext cx="2203704" cy="38404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Password Crack Time</a:t>
            </a:r>
            <a:endParaRPr lang="en-US" sz="1250" dirty="0"/>
          </a:p>
        </p:txBody>
      </p:sp>
      <p:sp>
        <p:nvSpPr>
          <p:cNvPr id="42" name="Text 40"/>
          <p:cNvSpPr/>
          <p:nvPr/>
        </p:nvSpPr>
        <p:spPr>
          <a:xfrm>
            <a:off x="548640" y="6355080"/>
            <a:ext cx="9601200" cy="320040"/>
          </a:xfrm>
          <a:prstGeom prst="rect">
            <a:avLst/>
          </a:prstGeom>
          <a:noFill/>
          <a:ln/>
        </p:spPr>
        <p:txBody>
          <a:bodyPr wrap="square" lIns="0" tIns="0" rIns="0" bIns="0" rtlCol="0" anchor="ctr"/>
          <a:lstStyle/>
          <a:p>
            <a:pPr indent="0" marL="0">
              <a:buNone/>
            </a:pPr>
            <a:r>
              <a:rPr lang="en-US" sz="1000" i="1" dirty="0">
                <a:solidFill>
                  <a:srgbClr val="6B6B63"/>
                </a:solidFill>
                <a:latin typeface="Calibri" pitchFamily="34" charset="0"/>
                <a:ea typeface="Calibri" pitchFamily="34" charset="-122"/>
                <a:cs typeface="Calibri" pitchFamily="34" charset="-120"/>
              </a:rPr>
              <a:t>Several sims span two subjects — grouped here by primary track.</a:t>
            </a:r>
            <a:endParaRPr lang="en-US" sz="1000" dirty="0"/>
          </a:p>
        </p:txBody>
      </p:sp>
      <p:sp>
        <p:nvSpPr>
          <p:cNvPr id="43" name="Text 41"/>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6B6B63"/>
                </a:solidFill>
                <a:latin typeface="Calibri" pitchFamily="34" charset="0"/>
                <a:ea typeface="Calibri" pitchFamily="34" charset="-122"/>
                <a:cs typeface="Calibri" pitchFamily="34" charset="-120"/>
              </a:rPr>
              <a:t>8 / 14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40680" y="384048"/>
            <a:ext cx="1481328" cy="384048"/>
          </a:xfrm>
          <a:prstGeom prst="roundRect">
            <a:avLst>
              <a:gd name="adj" fmla="val 19048"/>
            </a:avLst>
          </a:prstGeom>
          <a:solidFill>
            <a:srgbClr val="E4E1D6"/>
          </a:solidFill>
          <a:ln/>
        </p:spPr>
      </p:sp>
      <p:sp>
        <p:nvSpPr>
          <p:cNvPr id="3" name="Text 1"/>
          <p:cNvSpPr/>
          <p:nvPr/>
        </p:nvSpPr>
        <p:spPr>
          <a:xfrm>
            <a:off x="5495544"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IDENTIFY</a:t>
            </a:r>
            <a:endParaRPr lang="en-US" sz="900" dirty="0"/>
          </a:p>
        </p:txBody>
      </p:sp>
      <p:sp>
        <p:nvSpPr>
          <p:cNvPr id="4" name="Shape 2"/>
          <p:cNvSpPr/>
          <p:nvPr/>
        </p:nvSpPr>
        <p:spPr>
          <a:xfrm>
            <a:off x="7013448" y="384048"/>
            <a:ext cx="1481328" cy="384048"/>
          </a:xfrm>
          <a:prstGeom prst="roundRect">
            <a:avLst>
              <a:gd name="adj" fmla="val 19048"/>
            </a:avLst>
          </a:prstGeom>
          <a:solidFill>
            <a:srgbClr val="E4E1D6"/>
          </a:solidFill>
          <a:ln/>
        </p:spPr>
      </p:sp>
      <p:sp>
        <p:nvSpPr>
          <p:cNvPr id="5" name="Text 3"/>
          <p:cNvSpPr/>
          <p:nvPr/>
        </p:nvSpPr>
        <p:spPr>
          <a:xfrm>
            <a:off x="7068312"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RESEARCH</a:t>
            </a:r>
            <a:endParaRPr lang="en-US" sz="900" dirty="0"/>
          </a:p>
        </p:txBody>
      </p:sp>
      <p:sp>
        <p:nvSpPr>
          <p:cNvPr id="6" name="Shape 4"/>
          <p:cNvSpPr/>
          <p:nvPr/>
        </p:nvSpPr>
        <p:spPr>
          <a:xfrm>
            <a:off x="8586216" y="384048"/>
            <a:ext cx="1481328" cy="384048"/>
          </a:xfrm>
          <a:prstGeom prst="roundRect">
            <a:avLst>
              <a:gd name="adj" fmla="val 19048"/>
            </a:avLst>
          </a:prstGeom>
          <a:solidFill>
            <a:srgbClr val="E4E1D6"/>
          </a:solidFill>
          <a:ln/>
        </p:spPr>
      </p:sp>
      <p:sp>
        <p:nvSpPr>
          <p:cNvPr id="7" name="Text 5"/>
          <p:cNvSpPr/>
          <p:nvPr/>
        </p:nvSpPr>
        <p:spPr>
          <a:xfrm>
            <a:off x="8641080"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INNOVATE</a:t>
            </a:r>
            <a:endParaRPr lang="en-US" sz="900" dirty="0"/>
          </a:p>
        </p:txBody>
      </p:sp>
      <p:sp>
        <p:nvSpPr>
          <p:cNvPr id="8" name="Shape 6"/>
          <p:cNvSpPr/>
          <p:nvPr/>
        </p:nvSpPr>
        <p:spPr>
          <a:xfrm>
            <a:off x="10158984" y="384048"/>
            <a:ext cx="1481328" cy="384048"/>
          </a:xfrm>
          <a:prstGeom prst="roundRect">
            <a:avLst>
              <a:gd name="adj" fmla="val 19048"/>
            </a:avLst>
          </a:prstGeom>
          <a:solidFill>
            <a:srgbClr val="D97706"/>
          </a:solidFill>
          <a:ln/>
        </p:spPr>
      </p:sp>
      <p:sp>
        <p:nvSpPr>
          <p:cNvPr id="9" name="Text 7"/>
          <p:cNvSpPr/>
          <p:nvPr/>
        </p:nvSpPr>
        <p:spPr>
          <a:xfrm>
            <a:off x="10213848" y="384048"/>
            <a:ext cx="1371600" cy="38404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IMPACT</a:t>
            </a:r>
            <a:endParaRPr lang="en-US" sz="900" dirty="0"/>
          </a:p>
        </p:txBody>
      </p:sp>
      <p:sp>
        <p:nvSpPr>
          <p:cNvPr id="10" name="Text 8"/>
          <p:cNvSpPr/>
          <p:nvPr/>
        </p:nvSpPr>
        <p:spPr>
          <a:xfrm>
            <a:off x="548640" y="502920"/>
            <a:ext cx="8229600" cy="36576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IMPACT — PRESENT AND INSPIRE CHANGE</a:t>
            </a:r>
            <a:endParaRPr lang="en-US" sz="1300" dirty="0"/>
          </a:p>
        </p:txBody>
      </p:sp>
      <p:sp>
        <p:nvSpPr>
          <p:cNvPr id="11" name="Text 9"/>
          <p:cNvSpPr/>
          <p:nvPr/>
        </p:nvSpPr>
        <p:spPr>
          <a:xfrm>
            <a:off x="548640" y="841248"/>
            <a:ext cx="9692640" cy="914400"/>
          </a:xfrm>
          <a:prstGeom prst="rect">
            <a:avLst/>
          </a:prstGeom>
          <a:noFill/>
          <a:ln/>
        </p:spPr>
        <p:txBody>
          <a:bodyPr wrap="square" lIns="0" tIns="0" rIns="0" bIns="0" rtlCol="0" anchor="ctr"/>
          <a:lstStyle/>
          <a:p>
            <a:pPr indent="0" marL="0">
              <a:lnSpc>
                <a:spcPct val="102000"/>
              </a:lnSpc>
              <a:buNone/>
            </a:pPr>
            <a:r>
              <a:rPr lang="en-US" sz="3000" b="1" dirty="0">
                <a:solidFill>
                  <a:srgbClr val="1A1A1A"/>
                </a:solidFill>
                <a:latin typeface="Cambria" pitchFamily="34" charset="0"/>
                <a:ea typeface="Cambria" pitchFamily="34" charset="-122"/>
                <a:cs typeface="Cambria" pitchFamily="34" charset="-120"/>
              </a:rPr>
              <a:t>This isn't a roadmap.</a:t>
            </a:r>
            <a:endParaRPr lang="en-US" sz="3000" dirty="0"/>
          </a:p>
          <a:p>
            <a:pPr indent="0" marL="0">
              <a:lnSpc>
                <a:spcPct val="102000"/>
              </a:lnSpc>
              <a:buNone/>
            </a:pPr>
            <a:r>
              <a:rPr lang="en-US" sz="3000" b="1" dirty="0">
                <a:solidFill>
                  <a:srgbClr val="1A1A1A"/>
                </a:solidFill>
                <a:latin typeface="Cambria" pitchFamily="34" charset="0"/>
                <a:ea typeface="Cambria" pitchFamily="34" charset="-122"/>
                <a:cs typeface="Cambria" pitchFamily="34" charset="-120"/>
              </a:rPr>
              <a:t>It's running in the next room.</a:t>
            </a:r>
            <a:endParaRPr lang="en-US" sz="3000" dirty="0"/>
          </a:p>
        </p:txBody>
      </p:sp>
      <p:sp>
        <p:nvSpPr>
          <p:cNvPr id="12" name="Shape 10"/>
          <p:cNvSpPr/>
          <p:nvPr/>
        </p:nvSpPr>
        <p:spPr>
          <a:xfrm>
            <a:off x="548640" y="2148840"/>
            <a:ext cx="6675120" cy="1874520"/>
          </a:xfrm>
          <a:prstGeom prst="roundRect">
            <a:avLst>
              <a:gd name="adj" fmla="val 4878"/>
            </a:avLst>
          </a:prstGeom>
          <a:solidFill>
            <a:srgbClr val="D97706"/>
          </a:solidFill>
          <a:ln/>
        </p:spPr>
      </p:sp>
      <p:sp>
        <p:nvSpPr>
          <p:cNvPr id="13" name="Shape 11"/>
          <p:cNvSpPr/>
          <p:nvPr/>
        </p:nvSpPr>
        <p:spPr>
          <a:xfrm>
            <a:off x="868680" y="2423160"/>
            <a:ext cx="822960" cy="822960"/>
          </a:xfrm>
          <a:prstGeom prst="ellipse">
            <a:avLst/>
          </a:prstGeom>
          <a:solidFill>
            <a:srgbClr val="FFFFFF"/>
          </a:solidFill>
          <a:ln/>
        </p:spPr>
      </p:sp>
      <p:pic>
        <p:nvPicPr>
          <p:cNvPr id="14" name="Image 0" descr="/home/claude/pitch/icons/sync.png">    </p:cNvPr>
          <p:cNvPicPr>
            <a:picLocks noChangeAspect="1"/>
          </p:cNvPicPr>
          <p:nvPr/>
        </p:nvPicPr>
        <p:blipFill>
          <a:blip r:embed="rId1"/>
          <a:stretch>
            <a:fillRect/>
          </a:stretch>
        </p:blipFill>
        <p:spPr>
          <a:xfrm>
            <a:off x="1082650" y="2637130"/>
            <a:ext cx="395021" cy="395021"/>
          </a:xfrm>
          <a:prstGeom prst="rect">
            <a:avLst/>
          </a:prstGeom>
        </p:spPr>
      </p:pic>
      <p:sp>
        <p:nvSpPr>
          <p:cNvPr id="15" name="Text 12"/>
          <p:cNvSpPr/>
          <p:nvPr/>
        </p:nvSpPr>
        <p:spPr>
          <a:xfrm>
            <a:off x="1920240" y="2377440"/>
            <a:ext cx="5120640" cy="1463040"/>
          </a:xfrm>
          <a:prstGeom prst="rect">
            <a:avLst/>
          </a:prstGeom>
          <a:noFill/>
          <a:ln/>
        </p:spPr>
        <p:txBody>
          <a:bodyPr wrap="square" lIns="0" tIns="0" rIns="0" bIns="0" rtlCol="0" anchor="ctr"/>
          <a:lstStyle/>
          <a:p>
            <a:pPr indent="0" marL="0">
              <a:lnSpc>
                <a:spcPct val="128000"/>
              </a:lnSpc>
              <a:buNone/>
            </a:pPr>
            <a:r>
              <a:rPr lang="en-US" sz="1500" dirty="0">
                <a:solidFill>
                  <a:srgbClr val="FFFFFF"/>
                </a:solidFill>
                <a:latin typeface="Calibri" pitchFamily="34" charset="0"/>
                <a:ea typeface="Calibri" pitchFamily="34" charset="-122"/>
                <a:cs typeface="Calibri" pitchFamily="34" charset="-120"/>
              </a:rPr>
              <a:t>The exact sim you just watched is what runs in our computer workshop right after this pitch — same file, no separate build.</a:t>
            </a:r>
            <a:endParaRPr lang="en-US" sz="1500" dirty="0"/>
          </a:p>
        </p:txBody>
      </p:sp>
      <p:sp>
        <p:nvSpPr>
          <p:cNvPr id="16" name="Shape 13"/>
          <p:cNvSpPr/>
          <p:nvPr/>
        </p:nvSpPr>
        <p:spPr>
          <a:xfrm>
            <a:off x="7589520" y="2148840"/>
            <a:ext cx="3063240" cy="1874520"/>
          </a:xfrm>
          <a:prstGeom prst="roundRect">
            <a:avLst>
              <a:gd name="adj" fmla="val 4878"/>
            </a:avLst>
          </a:prstGeom>
          <a:solidFill>
            <a:srgbClr val="1F4A2E"/>
          </a:solidFill>
          <a:ln/>
        </p:spPr>
      </p:sp>
      <p:sp>
        <p:nvSpPr>
          <p:cNvPr id="17" name="Text 14"/>
          <p:cNvSpPr/>
          <p:nvPr/>
        </p:nvSpPr>
        <p:spPr>
          <a:xfrm>
            <a:off x="7845552" y="2331720"/>
            <a:ext cx="256032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121,168</a:t>
            </a:r>
            <a:endParaRPr lang="en-US" sz="2600" dirty="0"/>
          </a:p>
        </p:txBody>
      </p:sp>
      <p:sp>
        <p:nvSpPr>
          <p:cNvPr id="18" name="Text 15"/>
          <p:cNvSpPr/>
          <p:nvPr/>
        </p:nvSpPr>
        <p:spPr>
          <a:xfrm>
            <a:off x="7845552" y="2852928"/>
            <a:ext cx="2560320" cy="1005840"/>
          </a:xfrm>
          <a:prstGeom prst="rect">
            <a:avLst/>
          </a:prstGeom>
          <a:noFill/>
          <a:ln/>
        </p:spPr>
        <p:txBody>
          <a:bodyPr wrap="square" lIns="0" tIns="0" rIns="0" bIns="0" rtlCol="0" anchor="ctr"/>
          <a:lstStyle/>
          <a:p>
            <a:pPr indent="0" marL="0">
              <a:lnSpc>
                <a:spcPct val="125000"/>
              </a:lnSpc>
              <a:buNone/>
            </a:pPr>
            <a:r>
              <a:rPr lang="en-US" sz="1200" dirty="0">
                <a:solidFill>
                  <a:srgbClr val="D8E4D3"/>
                </a:solidFill>
                <a:latin typeface="Calibri" pitchFamily="34" charset="0"/>
                <a:ea typeface="Calibri" pitchFamily="34" charset="-122"/>
                <a:cs typeface="Calibri" pitchFamily="34" charset="-120"/>
              </a:rPr>
              <a:t>students studied — open resources match or beat closed ones, while saving real money.</a:t>
            </a:r>
            <a:endParaRPr lang="en-US" sz="1200" dirty="0"/>
          </a:p>
        </p:txBody>
      </p:sp>
      <p:sp>
        <p:nvSpPr>
          <p:cNvPr id="19" name="Text 16"/>
          <p:cNvSpPr/>
          <p:nvPr/>
        </p:nvSpPr>
        <p:spPr>
          <a:xfrm>
            <a:off x="548640" y="4297680"/>
            <a:ext cx="10058400" cy="457200"/>
          </a:xfrm>
          <a:prstGeom prst="rect">
            <a:avLst/>
          </a:prstGeom>
          <a:noFill/>
          <a:ln/>
        </p:spPr>
        <p:txBody>
          <a:bodyPr wrap="square" lIns="0" tIns="0" rIns="0" bIns="0" rtlCol="0" anchor="ctr"/>
          <a:lstStyle/>
          <a:p>
            <a:pPr indent="0" marL="0">
              <a:buNone/>
            </a:pPr>
            <a:r>
              <a:rPr lang="en-US" sz="1500" i="1" dirty="0">
                <a:solidFill>
                  <a:srgbClr val="1A1A1A"/>
                </a:solidFill>
                <a:latin typeface="Calibri" pitchFamily="34" charset="0"/>
                <a:ea typeface="Calibri" pitchFamily="34" charset="-122"/>
                <a:cs typeface="Calibri" pitchFamily="34" charset="-120"/>
              </a:rPr>
              <a:t>Same gap, same fix, at whatever scale a chapter needs — this is built to outgrow us.</a:t>
            </a:r>
            <a:endParaRPr lang="en-US" sz="1500" dirty="0"/>
          </a:p>
        </p:txBody>
      </p:sp>
      <p:sp>
        <p:nvSpPr>
          <p:cNvPr id="20" name="Text 17"/>
          <p:cNvSpPr/>
          <p:nvPr/>
        </p:nvSpPr>
        <p:spPr>
          <a:xfrm>
            <a:off x="548640" y="4846320"/>
            <a:ext cx="10058400" cy="457200"/>
          </a:xfrm>
          <a:prstGeom prst="rect">
            <a:avLst/>
          </a:prstGeom>
          <a:noFill/>
          <a:ln/>
        </p:spPr>
        <p:txBody>
          <a:bodyPr wrap="square" lIns="0" tIns="0" rIns="0" bIns="0" rtlCol="0" anchor="ctr"/>
          <a:lstStyle/>
          <a:p>
            <a:pPr indent="0" marL="0">
              <a:buNone/>
            </a:pPr>
            <a:r>
              <a:rPr lang="en-US" sz="1300" i="1" dirty="0">
                <a:solidFill>
                  <a:srgbClr val="6B6B63"/>
                </a:solidFill>
                <a:latin typeface="Calibri" pitchFamily="34" charset="0"/>
                <a:ea typeface="Calibri" pitchFamily="34" charset="-122"/>
                <a:cs typeface="Calibri" pitchFamily="34" charset="-120"/>
              </a:rPr>
              <a:t>Fifteen sims across computers, electronics, physics, and math — all open source, all free for any chapter to use or extend.</a:t>
            </a:r>
            <a:endParaRPr lang="en-US" sz="1300" dirty="0"/>
          </a:p>
        </p:txBody>
      </p:sp>
      <p:sp>
        <p:nvSpPr>
          <p:cNvPr id="21" name="Text 18"/>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6B6B63"/>
                </a:solidFill>
                <a:latin typeface="Calibri" pitchFamily="34" charset="0"/>
                <a:ea typeface="Calibri" pitchFamily="34" charset="-122"/>
                <a:cs typeface="Calibri" pitchFamily="34" charset="-120"/>
              </a:rPr>
              <a:t>9 / 14</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40680" y="384048"/>
            <a:ext cx="1481328" cy="384048"/>
          </a:xfrm>
          <a:prstGeom prst="roundRect">
            <a:avLst>
              <a:gd name="adj" fmla="val 19048"/>
            </a:avLst>
          </a:prstGeom>
          <a:solidFill>
            <a:srgbClr val="E4E1D6"/>
          </a:solidFill>
          <a:ln/>
        </p:spPr>
      </p:sp>
      <p:sp>
        <p:nvSpPr>
          <p:cNvPr id="3" name="Text 1"/>
          <p:cNvSpPr/>
          <p:nvPr/>
        </p:nvSpPr>
        <p:spPr>
          <a:xfrm>
            <a:off x="5495544"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IDENTIFY</a:t>
            </a:r>
            <a:endParaRPr lang="en-US" sz="900" dirty="0"/>
          </a:p>
        </p:txBody>
      </p:sp>
      <p:sp>
        <p:nvSpPr>
          <p:cNvPr id="4" name="Shape 2"/>
          <p:cNvSpPr/>
          <p:nvPr/>
        </p:nvSpPr>
        <p:spPr>
          <a:xfrm>
            <a:off x="7013448" y="384048"/>
            <a:ext cx="1481328" cy="384048"/>
          </a:xfrm>
          <a:prstGeom prst="roundRect">
            <a:avLst>
              <a:gd name="adj" fmla="val 19048"/>
            </a:avLst>
          </a:prstGeom>
          <a:solidFill>
            <a:srgbClr val="E4E1D6"/>
          </a:solidFill>
          <a:ln/>
        </p:spPr>
      </p:sp>
      <p:sp>
        <p:nvSpPr>
          <p:cNvPr id="5" name="Text 3"/>
          <p:cNvSpPr/>
          <p:nvPr/>
        </p:nvSpPr>
        <p:spPr>
          <a:xfrm>
            <a:off x="7068312"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RESEARCH</a:t>
            </a:r>
            <a:endParaRPr lang="en-US" sz="900" dirty="0"/>
          </a:p>
        </p:txBody>
      </p:sp>
      <p:sp>
        <p:nvSpPr>
          <p:cNvPr id="6" name="Shape 4"/>
          <p:cNvSpPr/>
          <p:nvPr/>
        </p:nvSpPr>
        <p:spPr>
          <a:xfrm>
            <a:off x="8586216" y="384048"/>
            <a:ext cx="1481328" cy="384048"/>
          </a:xfrm>
          <a:prstGeom prst="roundRect">
            <a:avLst>
              <a:gd name="adj" fmla="val 19048"/>
            </a:avLst>
          </a:prstGeom>
          <a:solidFill>
            <a:srgbClr val="E4E1D6"/>
          </a:solidFill>
          <a:ln/>
        </p:spPr>
      </p:sp>
      <p:sp>
        <p:nvSpPr>
          <p:cNvPr id="7" name="Text 5"/>
          <p:cNvSpPr/>
          <p:nvPr/>
        </p:nvSpPr>
        <p:spPr>
          <a:xfrm>
            <a:off x="8641080" y="384048"/>
            <a:ext cx="1371600" cy="384048"/>
          </a:xfrm>
          <a:prstGeom prst="rect">
            <a:avLst/>
          </a:prstGeom>
          <a:noFill/>
          <a:ln/>
        </p:spPr>
        <p:txBody>
          <a:bodyPr wrap="square" lIns="0" tIns="0" rIns="0" bIns="0" rtlCol="0" anchor="ctr"/>
          <a:lstStyle/>
          <a:p>
            <a:pPr algn="ctr" indent="0" marL="0">
              <a:buNone/>
            </a:pPr>
            <a:r>
              <a:rPr lang="en-US" sz="900" spc="100" kern="0" dirty="0">
                <a:solidFill>
                  <a:srgbClr val="6B6B63"/>
                </a:solidFill>
                <a:latin typeface="Calibri" pitchFamily="34" charset="0"/>
                <a:ea typeface="Calibri" pitchFamily="34" charset="-122"/>
                <a:cs typeface="Calibri" pitchFamily="34" charset="-120"/>
              </a:rPr>
              <a:t>INNOVATE</a:t>
            </a:r>
            <a:endParaRPr lang="en-US" sz="900" dirty="0"/>
          </a:p>
        </p:txBody>
      </p:sp>
      <p:sp>
        <p:nvSpPr>
          <p:cNvPr id="8" name="Shape 6"/>
          <p:cNvSpPr/>
          <p:nvPr/>
        </p:nvSpPr>
        <p:spPr>
          <a:xfrm>
            <a:off x="10158984" y="384048"/>
            <a:ext cx="1481328" cy="384048"/>
          </a:xfrm>
          <a:prstGeom prst="roundRect">
            <a:avLst>
              <a:gd name="adj" fmla="val 19048"/>
            </a:avLst>
          </a:prstGeom>
          <a:solidFill>
            <a:srgbClr val="D97706"/>
          </a:solidFill>
          <a:ln/>
        </p:spPr>
      </p:sp>
      <p:sp>
        <p:nvSpPr>
          <p:cNvPr id="9" name="Text 7"/>
          <p:cNvSpPr/>
          <p:nvPr/>
        </p:nvSpPr>
        <p:spPr>
          <a:xfrm>
            <a:off x="10213848" y="384048"/>
            <a:ext cx="1371600" cy="38404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IMPACT</a:t>
            </a:r>
            <a:endParaRPr lang="en-US" sz="900" dirty="0"/>
          </a:p>
        </p:txBody>
      </p:sp>
      <p:sp>
        <p:nvSpPr>
          <p:cNvPr id="10" name="Text 8"/>
          <p:cNvSpPr/>
          <p:nvPr/>
        </p:nvSpPr>
        <p:spPr>
          <a:xfrm>
            <a:off x="548640" y="502920"/>
            <a:ext cx="8229600" cy="36576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IMPACT — OWNING OUR OWN LIMITS</a:t>
            </a:r>
            <a:endParaRPr lang="en-US" sz="1300" dirty="0"/>
          </a:p>
        </p:txBody>
      </p:sp>
      <p:sp>
        <p:nvSpPr>
          <p:cNvPr id="11" name="Text 9"/>
          <p:cNvSpPr/>
          <p:nvPr/>
        </p:nvSpPr>
        <p:spPr>
          <a:xfrm>
            <a:off x="548640" y="841248"/>
            <a:ext cx="9692640" cy="914400"/>
          </a:xfrm>
          <a:prstGeom prst="rect">
            <a:avLst/>
          </a:prstGeom>
          <a:noFill/>
          <a:ln/>
        </p:spPr>
        <p:txBody>
          <a:bodyPr wrap="square" lIns="0" tIns="0" rIns="0" bIns="0" rtlCol="0" anchor="ctr"/>
          <a:lstStyle/>
          <a:p>
            <a:pPr indent="0" marL="0">
              <a:lnSpc>
                <a:spcPct val="102000"/>
              </a:lnSpc>
              <a:buNone/>
            </a:pPr>
            <a:r>
              <a:rPr lang="en-US" sz="3200" b="1" dirty="0">
                <a:solidFill>
                  <a:srgbClr val="1A1A1A"/>
                </a:solidFill>
                <a:latin typeface="Cambria" pitchFamily="34" charset="0"/>
                <a:ea typeface="Cambria" pitchFamily="34" charset="-122"/>
                <a:cs typeface="Cambria" pitchFamily="34" charset="-120"/>
              </a:rPr>
              <a:t>What we're honest about.</a:t>
            </a:r>
            <a:endParaRPr lang="en-US" sz="3200" dirty="0"/>
          </a:p>
        </p:txBody>
      </p:sp>
      <p:sp>
        <p:nvSpPr>
          <p:cNvPr id="12" name="Shape 10"/>
          <p:cNvSpPr/>
          <p:nvPr/>
        </p:nvSpPr>
        <p:spPr>
          <a:xfrm>
            <a:off x="548640" y="2286000"/>
            <a:ext cx="5074920" cy="2834640"/>
          </a:xfrm>
          <a:prstGeom prst="roundRect">
            <a:avLst>
              <a:gd name="adj" fmla="val 3226"/>
            </a:avLst>
          </a:prstGeom>
          <a:solidFill>
            <a:srgbClr val="F4F1E8"/>
          </a:solidFill>
          <a:ln/>
        </p:spPr>
      </p:sp>
      <p:sp>
        <p:nvSpPr>
          <p:cNvPr id="13" name="Text 11"/>
          <p:cNvSpPr/>
          <p:nvPr/>
        </p:nvSpPr>
        <p:spPr>
          <a:xfrm>
            <a:off x="822960" y="2514600"/>
            <a:ext cx="4526280" cy="548640"/>
          </a:xfrm>
          <a:prstGeom prst="rect">
            <a:avLst/>
          </a:prstGeom>
          <a:noFill/>
          <a:ln/>
        </p:spPr>
        <p:txBody>
          <a:bodyPr wrap="square" lIns="0" tIns="0" rIns="0" bIns="0" rtlCol="0" anchor="ctr"/>
          <a:lstStyle/>
          <a:p>
            <a:pPr indent="0" marL="0">
              <a:lnSpc>
                <a:spcPct val="115000"/>
              </a:lnSpc>
              <a:buNone/>
            </a:pPr>
            <a:r>
              <a:rPr lang="en-US" sz="1100" b="1" spc="50" kern="0" dirty="0">
                <a:solidFill>
                  <a:srgbClr val="D97706"/>
                </a:solidFill>
                <a:latin typeface="Calibri" pitchFamily="34" charset="0"/>
                <a:ea typeface="Calibri" pitchFamily="34" charset="-122"/>
                <a:cs typeface="Calibri" pitchFamily="34" charset="-120"/>
              </a:rPr>
              <a:t>“INFORMAL PROGRAMS DON'T BUILD CONCEPTUAL UNDERSTANDING”</a:t>
            </a:r>
            <a:endParaRPr lang="en-US" sz="1100" dirty="0"/>
          </a:p>
        </p:txBody>
      </p:sp>
      <p:sp>
        <p:nvSpPr>
          <p:cNvPr id="14" name="Text 12"/>
          <p:cNvSpPr/>
          <p:nvPr/>
        </p:nvSpPr>
        <p:spPr>
          <a:xfrm>
            <a:off x="822960" y="3154680"/>
            <a:ext cx="4526280" cy="1737360"/>
          </a:xfrm>
          <a:prstGeom prst="rect">
            <a:avLst/>
          </a:prstGeom>
          <a:noFill/>
          <a:ln/>
        </p:spPr>
        <p:txBody>
          <a:bodyPr wrap="square" lIns="0" tIns="0" rIns="0" bIns="0" rtlCol="0" anchor="ctr"/>
          <a:lstStyle/>
          <a:p>
            <a:pPr indent="0" marL="0">
              <a:lnSpc>
                <a:spcPct val="132000"/>
              </a:lnSpc>
              <a:buNone/>
            </a:pPr>
            <a:r>
              <a:rPr lang="en-US" sz="1400" dirty="0">
                <a:solidFill>
                  <a:srgbClr val="1A1A1A"/>
                </a:solidFill>
                <a:latin typeface="Calibri" pitchFamily="34" charset="0"/>
                <a:ea typeface="Calibri" pitchFamily="34" charset="-122"/>
                <a:cs typeface="Calibri" pitchFamily="34" charset="-120"/>
              </a:rPr>
              <a:t>That finding is about what these programs are documented to emphasize — not proof they can't do more. We're closing a documented gap, not fixing a proven failure.</a:t>
            </a:r>
            <a:endParaRPr lang="en-US" sz="1400" dirty="0"/>
          </a:p>
        </p:txBody>
      </p:sp>
      <p:sp>
        <p:nvSpPr>
          <p:cNvPr id="15" name="Shape 13"/>
          <p:cNvSpPr/>
          <p:nvPr/>
        </p:nvSpPr>
        <p:spPr>
          <a:xfrm>
            <a:off x="5989320" y="2286000"/>
            <a:ext cx="5074920" cy="2834640"/>
          </a:xfrm>
          <a:prstGeom prst="roundRect">
            <a:avLst>
              <a:gd name="adj" fmla="val 3226"/>
            </a:avLst>
          </a:prstGeom>
          <a:solidFill>
            <a:srgbClr val="F4F1E8"/>
          </a:solidFill>
          <a:ln/>
        </p:spPr>
      </p:sp>
      <p:sp>
        <p:nvSpPr>
          <p:cNvPr id="16" name="Text 14"/>
          <p:cNvSpPr/>
          <p:nvPr/>
        </p:nvSpPr>
        <p:spPr>
          <a:xfrm>
            <a:off x="6263640" y="2514600"/>
            <a:ext cx="4526280" cy="365760"/>
          </a:xfrm>
          <a:prstGeom prst="rect">
            <a:avLst/>
          </a:prstGeom>
          <a:noFill/>
          <a:ln/>
        </p:spPr>
        <p:txBody>
          <a:bodyPr wrap="square" lIns="0" tIns="0" rIns="0" bIns="0" rtlCol="0" anchor="ctr"/>
          <a:lstStyle/>
          <a:p>
            <a:pPr indent="0" marL="0">
              <a:buNone/>
            </a:pPr>
            <a:r>
              <a:rPr lang="en-US" sz="1100" b="1" spc="50" kern="0" dirty="0">
                <a:solidFill>
                  <a:srgbClr val="1F4A2E"/>
                </a:solidFill>
                <a:latin typeface="Calibri" pitchFamily="34" charset="0"/>
                <a:ea typeface="Calibri" pitchFamily="34" charset="-122"/>
                <a:cs typeface="Calibri" pitchFamily="34" charset="-120"/>
              </a:rPr>
              <a:t>OUR LOCAL (BAY AREA) NUMBERS</a:t>
            </a:r>
            <a:endParaRPr lang="en-US" sz="1100" dirty="0"/>
          </a:p>
        </p:txBody>
      </p:sp>
      <p:sp>
        <p:nvSpPr>
          <p:cNvPr id="17" name="Text 15"/>
          <p:cNvSpPr/>
          <p:nvPr/>
        </p:nvSpPr>
        <p:spPr>
          <a:xfrm>
            <a:off x="6263640" y="2971800"/>
            <a:ext cx="4526280" cy="1920240"/>
          </a:xfrm>
          <a:prstGeom prst="rect">
            <a:avLst/>
          </a:prstGeom>
          <a:noFill/>
          <a:ln/>
        </p:spPr>
        <p:txBody>
          <a:bodyPr wrap="square" lIns="0" tIns="0" rIns="0" bIns="0" rtlCol="0" anchor="ctr"/>
          <a:lstStyle/>
          <a:p>
            <a:pPr indent="0" marL="0">
              <a:lnSpc>
                <a:spcPct val="132000"/>
              </a:lnSpc>
              <a:buNone/>
            </a:pPr>
            <a:r>
              <a:rPr lang="en-US" sz="1400" dirty="0">
                <a:solidFill>
                  <a:srgbClr val="1A1A1A"/>
                </a:solidFill>
                <a:latin typeface="Calibri" pitchFamily="34" charset="0"/>
                <a:ea typeface="Calibri" pitchFamily="34" charset="-122"/>
                <a:cs typeface="Calibri" pitchFamily="34" charset="-120"/>
              </a:rPr>
              <a:t>Organizational, not peer-reviewed. We lean on the peer-reviewed research for the actual causal claims, and use local numbers for context, not proof.</a:t>
            </a:r>
            <a:endParaRPr lang="en-US" sz="1400" dirty="0"/>
          </a:p>
        </p:txBody>
      </p:sp>
      <p:sp>
        <p:nvSpPr>
          <p:cNvPr id="18" name="Text 16"/>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6B6B63"/>
                </a:solidFill>
                <a:latin typeface="Calibri" pitchFamily="34" charset="0"/>
                <a:ea typeface="Calibri" pitchFamily="34" charset="-122"/>
                <a:cs typeface="Calibri" pitchFamily="34" charset="-120"/>
              </a:rPr>
              <a:t>10 / 14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3620"/>
        </a:solidFill>
      </p:bgPr>
    </p:bg>
    <p:spTree>
      <p:nvGrpSpPr>
        <p:cNvPr id="1" name=""/>
        <p:cNvGrpSpPr/>
        <p:nvPr/>
      </p:nvGrpSpPr>
      <p:grpSpPr>
        <a:xfrm>
          <a:off x="0" y="0"/>
          <a:ext cx="0" cy="0"/>
          <a:chOff x="0" y="0"/>
          <a:chExt cx="0" cy="0"/>
        </a:xfrm>
      </p:grpSpPr>
      <p:sp>
        <p:nvSpPr>
          <p:cNvPr id="2" name="Shape 0"/>
          <p:cNvSpPr/>
          <p:nvPr/>
        </p:nvSpPr>
        <p:spPr>
          <a:xfrm>
            <a:off x="548640" y="2011680"/>
            <a:ext cx="1188720" cy="1188720"/>
          </a:xfrm>
          <a:prstGeom prst="ellipse">
            <a:avLst/>
          </a:prstGeom>
          <a:solidFill>
            <a:srgbClr val="D97706"/>
          </a:solidFill>
          <a:ln/>
        </p:spPr>
      </p:sp>
      <p:pic>
        <p:nvPicPr>
          <p:cNvPr id="3" name="Image 0" descr="/home/claude/pitch/icons/trophy.png">    </p:cNvPr>
          <p:cNvPicPr>
            <a:picLocks noChangeAspect="1"/>
          </p:cNvPicPr>
          <p:nvPr/>
        </p:nvPicPr>
        <p:blipFill>
          <a:blip r:embed="rId1"/>
          <a:stretch>
            <a:fillRect/>
          </a:stretch>
        </p:blipFill>
        <p:spPr>
          <a:xfrm>
            <a:off x="857707" y="2320747"/>
            <a:ext cx="570586" cy="570586"/>
          </a:xfrm>
          <a:prstGeom prst="rect">
            <a:avLst/>
          </a:prstGeom>
        </p:spPr>
      </p:pic>
      <p:sp>
        <p:nvSpPr>
          <p:cNvPr id="4" name="Text 1"/>
          <p:cNvSpPr/>
          <p:nvPr/>
        </p:nvSpPr>
        <p:spPr>
          <a:xfrm>
            <a:off x="548640" y="3337560"/>
            <a:ext cx="73152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2"/>
          <p:cNvSpPr/>
          <p:nvPr/>
        </p:nvSpPr>
        <p:spPr>
          <a:xfrm>
            <a:off x="548640" y="4251960"/>
            <a:ext cx="8229600" cy="457200"/>
          </a:xfrm>
          <a:prstGeom prst="rect">
            <a:avLst/>
          </a:prstGeom>
          <a:noFill/>
          <a:ln/>
        </p:spPr>
        <p:txBody>
          <a:bodyPr wrap="square" lIns="0" tIns="0" rIns="0" bIns="0" rtlCol="0" anchor="ctr"/>
          <a:lstStyle/>
          <a:p>
            <a:pPr indent="0" marL="0">
              <a:buNone/>
            </a:pPr>
            <a:r>
              <a:rPr lang="en-US" sz="1600" dirty="0">
                <a:solidFill>
                  <a:srgbClr val="D8E4D3"/>
                </a:solidFill>
                <a:latin typeface="Calibri" pitchFamily="34" charset="0"/>
                <a:ea typeface="Calibri" pitchFamily="34" charset="-122"/>
                <a:cs typeface="Calibri" pitchFamily="34" charset="-120"/>
              </a:rPr>
              <a:t>Janyaa Sim Lab  ·  Education Category  ·  Jay Kumar</a:t>
            </a:r>
            <a:endParaRPr lang="en-US" sz="1600" dirty="0"/>
          </a:p>
        </p:txBody>
      </p:sp>
      <p:sp>
        <p:nvSpPr>
          <p:cNvPr id="6" name="Text 3"/>
          <p:cNvSpPr/>
          <p:nvPr/>
        </p:nvSpPr>
        <p:spPr>
          <a:xfrm>
            <a:off x="548640" y="4892040"/>
            <a:ext cx="9144000" cy="365760"/>
          </a:xfrm>
          <a:prstGeom prst="rect">
            <a:avLst/>
          </a:prstGeom>
          <a:noFill/>
          <a:ln/>
        </p:spPr>
        <p:txBody>
          <a:bodyPr wrap="square" lIns="0" tIns="0" rIns="0" bIns="0" rtlCol="0" anchor="ctr"/>
          <a:lstStyle/>
          <a:p>
            <a:pPr indent="0" marL="0">
              <a:buNone/>
            </a:pPr>
            <a:r>
              <a:rPr lang="en-US" sz="1300" b="1" spc="200" kern="0" dirty="0">
                <a:solidFill>
                  <a:srgbClr val="D97706"/>
                </a:solidFill>
                <a:latin typeface="Calibri" pitchFamily="34" charset="0"/>
                <a:ea typeface="Calibri" pitchFamily="34" charset="-122"/>
                <a:cs typeface="Calibri" pitchFamily="34" charset="-120"/>
              </a:rPr>
              <a:t>IDENTIFY   ·   RESEARCH   ·   INNOVATE   ·   IMPACT</a:t>
            </a:r>
            <a:endParaRPr lang="en-US" sz="1300" dirty="0"/>
          </a:p>
        </p:txBody>
      </p:sp>
      <p:sp>
        <p:nvSpPr>
          <p:cNvPr id="7" name="Text 4"/>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6B6B63"/>
                </a:solidFill>
                <a:latin typeface="Calibri" pitchFamily="34" charset="0"/>
                <a:ea typeface="Calibri" pitchFamily="34" charset="-122"/>
                <a:cs typeface="Calibri" pitchFamily="34" charset="-120"/>
              </a:rPr>
              <a:t>11 / 14</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268712" y="384048"/>
            <a:ext cx="1371600" cy="384048"/>
          </a:xfrm>
          <a:prstGeom prst="roundRect">
            <a:avLst>
              <a:gd name="adj" fmla="val 19048"/>
            </a:avLst>
          </a:prstGeom>
          <a:solidFill>
            <a:srgbClr val="1A1A1A"/>
          </a:solidFill>
          <a:ln/>
        </p:spPr>
      </p:sp>
      <p:sp>
        <p:nvSpPr>
          <p:cNvPr id="3" name="Text 1"/>
          <p:cNvSpPr/>
          <p:nvPr/>
        </p:nvSpPr>
        <p:spPr>
          <a:xfrm>
            <a:off x="10268712" y="384048"/>
            <a:ext cx="1371600" cy="38404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4" name="Text 2"/>
          <p:cNvSpPr/>
          <p:nvPr/>
        </p:nvSpPr>
        <p:spPr>
          <a:xfrm>
            <a:off x="548640" y="502920"/>
            <a:ext cx="8229600" cy="365760"/>
          </a:xfrm>
          <a:prstGeom prst="rect">
            <a:avLst/>
          </a:prstGeom>
          <a:noFill/>
          <a:ln/>
        </p:spPr>
        <p:txBody>
          <a:bodyPr wrap="square" lIns="0" tIns="0" rIns="0" bIns="0" rtlCol="0" anchor="ctr"/>
          <a:lstStyle/>
          <a:p>
            <a:pPr indent="0" marL="0">
              <a:buNone/>
            </a:pPr>
            <a:r>
              <a:rPr lang="en-US" sz="1300" b="1" spc="200" kern="0" dirty="0">
                <a:solidFill>
                  <a:srgbClr val="6B6B63"/>
                </a:solidFill>
                <a:latin typeface="Calibri" pitchFamily="34" charset="0"/>
                <a:ea typeface="Calibri" pitchFamily="34" charset="-122"/>
                <a:cs typeface="Calibri" pitchFamily="34" charset="-120"/>
              </a:rPr>
              <a:t>APPENDIX — FOR Q&amp;A ONLY</a:t>
            </a:r>
            <a:endParaRPr lang="en-US" sz="1300" dirty="0"/>
          </a:p>
        </p:txBody>
      </p:sp>
      <p:sp>
        <p:nvSpPr>
          <p:cNvPr id="5" name="Text 3"/>
          <p:cNvSpPr/>
          <p:nvPr/>
        </p:nvSpPr>
        <p:spPr>
          <a:xfrm>
            <a:off x="548640" y="841248"/>
            <a:ext cx="9692640" cy="914400"/>
          </a:xfrm>
          <a:prstGeom prst="rect">
            <a:avLst/>
          </a:prstGeom>
          <a:noFill/>
          <a:ln/>
        </p:spPr>
        <p:txBody>
          <a:bodyPr wrap="square" lIns="0" tIns="0" rIns="0" bIns="0" rtlCol="0" anchor="ctr"/>
          <a:lstStyle/>
          <a:p>
            <a:pPr indent="0" marL="0">
              <a:lnSpc>
                <a:spcPct val="102000"/>
              </a:lnSpc>
              <a:buNone/>
            </a:pPr>
            <a:r>
              <a:rPr lang="en-US" sz="3000" b="1" dirty="0">
                <a:solidFill>
                  <a:srgbClr val="1A1A1A"/>
                </a:solidFill>
                <a:latin typeface="Cambria" pitchFamily="34" charset="0"/>
                <a:ea typeface="Cambria" pitchFamily="34" charset="-122"/>
                <a:cs typeface="Cambria" pitchFamily="34" charset="-120"/>
              </a:rPr>
              <a:t>The research, in full.</a:t>
            </a:r>
            <a:endParaRPr lang="en-US" sz="3000" dirty="0"/>
          </a:p>
        </p:txBody>
      </p:sp>
      <p:sp>
        <p:nvSpPr>
          <p:cNvPr id="6" name="Text 4"/>
          <p:cNvSpPr/>
          <p:nvPr/>
        </p:nvSpPr>
        <p:spPr>
          <a:xfrm>
            <a:off x="548640" y="2011680"/>
            <a:ext cx="5074920" cy="274320"/>
          </a:xfrm>
          <a:prstGeom prst="rect">
            <a:avLst/>
          </a:prstGeom>
          <a:noFill/>
          <a:ln/>
        </p:spPr>
        <p:txBody>
          <a:bodyPr wrap="square" lIns="0" tIns="0" rIns="0" bIns="0" rtlCol="0" anchor="ctr"/>
          <a:lstStyle/>
          <a:p>
            <a:pPr indent="0" marL="0">
              <a:buNone/>
            </a:pPr>
            <a:r>
              <a:rPr lang="en-US" sz="1100" b="1" spc="100" kern="0" dirty="0">
                <a:solidFill>
                  <a:srgbClr val="D97706"/>
                </a:solidFill>
                <a:latin typeface="Calibri" pitchFamily="34" charset="0"/>
                <a:ea typeface="Calibri" pitchFamily="34" charset="-122"/>
                <a:cs typeface="Calibri" pitchFamily="34" charset="-120"/>
              </a:rPr>
              <a:t>ROOT CAUSE</a:t>
            </a:r>
            <a:endParaRPr lang="en-US" sz="1100" dirty="0"/>
          </a:p>
        </p:txBody>
      </p:sp>
      <p:sp>
        <p:nvSpPr>
          <p:cNvPr id="7" name="Text 5"/>
          <p:cNvSpPr/>
          <p:nvPr/>
        </p:nvSpPr>
        <p:spPr>
          <a:xfrm>
            <a:off x="548640" y="2304288"/>
            <a:ext cx="5074920" cy="1143000"/>
          </a:xfrm>
          <a:prstGeom prst="rect">
            <a:avLst/>
          </a:prstGeom>
          <a:noFill/>
          <a:ln/>
        </p:spPr>
        <p:txBody>
          <a:bodyPr wrap="square" lIns="0" tIns="0" rIns="0" bIns="0" rtlCol="0" anchor="ctr"/>
          <a:lstStyle/>
          <a:p>
            <a:pPr marL="342900" indent="-342900">
              <a:lnSpc>
                <a:spcPct val="12000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Herman, Zilles &amp; Loui (2011) — hardware misconceptions post-course</a:t>
            </a:r>
            <a:endParaRPr lang="en-US" sz="1050" dirty="0"/>
          </a:p>
          <a:p>
            <a:pPr marL="342900" indent="-342900">
              <a:lnSpc>
                <a:spcPct val="12000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NRC, Science Teaching Reconsidered (1997)</a:t>
            </a:r>
            <a:endParaRPr lang="en-US" sz="1050" dirty="0"/>
          </a:p>
          <a:p>
            <a:pPr marL="342900" indent="-342900">
              <a:lnSpc>
                <a:spcPct val="12000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Sorva (2013) — notional machines</a:t>
            </a:r>
            <a:endParaRPr lang="en-US" sz="1050" dirty="0"/>
          </a:p>
        </p:txBody>
      </p:sp>
      <p:sp>
        <p:nvSpPr>
          <p:cNvPr id="8" name="Text 6"/>
          <p:cNvSpPr/>
          <p:nvPr/>
        </p:nvSpPr>
        <p:spPr>
          <a:xfrm>
            <a:off x="548640" y="3493008"/>
            <a:ext cx="5074920" cy="274320"/>
          </a:xfrm>
          <a:prstGeom prst="rect">
            <a:avLst/>
          </a:prstGeom>
          <a:noFill/>
          <a:ln/>
        </p:spPr>
        <p:txBody>
          <a:bodyPr wrap="square" lIns="0" tIns="0" rIns="0" bIns="0" rtlCol="0" anchor="ctr"/>
          <a:lstStyle/>
          <a:p>
            <a:pPr indent="0" marL="0">
              <a:buNone/>
            </a:pPr>
            <a:r>
              <a:rPr lang="en-US" sz="1100" b="1" spc="100" kern="0" dirty="0">
                <a:solidFill>
                  <a:srgbClr val="D97706"/>
                </a:solidFill>
                <a:latin typeface="Calibri" pitchFamily="34" charset="0"/>
                <a:ea typeface="Calibri" pitchFamily="34" charset="-122"/>
                <a:cs typeface="Calibri" pitchFamily="34" charset="-120"/>
              </a:rPr>
              <a:t>RELEVANCE BEYOND US</a:t>
            </a:r>
            <a:endParaRPr lang="en-US" sz="1100" dirty="0"/>
          </a:p>
        </p:txBody>
      </p:sp>
      <p:sp>
        <p:nvSpPr>
          <p:cNvPr id="9" name="Text 7"/>
          <p:cNvSpPr/>
          <p:nvPr/>
        </p:nvSpPr>
        <p:spPr>
          <a:xfrm>
            <a:off x="548640" y="3785616"/>
            <a:ext cx="5074920" cy="1143000"/>
          </a:xfrm>
          <a:prstGeom prst="rect">
            <a:avLst/>
          </a:prstGeom>
          <a:noFill/>
          <a:ln/>
        </p:spPr>
        <p:txBody>
          <a:bodyPr wrap="square" lIns="0" tIns="0" rIns="0" bIns="0" rtlCol="0" anchor="ctr"/>
          <a:lstStyle/>
          <a:p>
            <a:pPr marL="342900" indent="-342900">
              <a:lnSpc>
                <a:spcPct val="12000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Afterschool Alliance, America After 3PM (2021/2025)</a:t>
            </a:r>
            <a:endParaRPr lang="en-US" sz="1050" dirty="0"/>
          </a:p>
          <a:p>
            <a:pPr marL="342900" indent="-342900">
              <a:lnSpc>
                <a:spcPct val="12000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RAND Corp., Expanding Afterschool Opportunities (2023)</a:t>
            </a:r>
            <a:endParaRPr lang="en-US" sz="1050" dirty="0"/>
          </a:p>
          <a:p>
            <a:pPr marL="342900" indent="-342900">
              <a:lnSpc>
                <a:spcPct val="12000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PEAR Institute / NRC, Informal Environments (2009)</a:t>
            </a:r>
            <a:endParaRPr lang="en-US" sz="1050" dirty="0"/>
          </a:p>
        </p:txBody>
      </p:sp>
      <p:sp>
        <p:nvSpPr>
          <p:cNvPr id="10" name="Text 8"/>
          <p:cNvSpPr/>
          <p:nvPr/>
        </p:nvSpPr>
        <p:spPr>
          <a:xfrm>
            <a:off x="548640" y="4974336"/>
            <a:ext cx="5074920" cy="274320"/>
          </a:xfrm>
          <a:prstGeom prst="rect">
            <a:avLst/>
          </a:prstGeom>
          <a:noFill/>
          <a:ln/>
        </p:spPr>
        <p:txBody>
          <a:bodyPr wrap="square" lIns="0" tIns="0" rIns="0" bIns="0" rtlCol="0" anchor="ctr"/>
          <a:lstStyle/>
          <a:p>
            <a:pPr indent="0" marL="0">
              <a:buNone/>
            </a:pPr>
            <a:r>
              <a:rPr lang="en-US" sz="1100" b="1" spc="100" kern="0" dirty="0">
                <a:solidFill>
                  <a:srgbClr val="D97706"/>
                </a:solidFill>
                <a:latin typeface="Calibri" pitchFamily="34" charset="0"/>
                <a:ea typeface="Calibri" pitchFamily="34" charset="-122"/>
                <a:cs typeface="Calibri" pitchFamily="34" charset="-120"/>
              </a:rPr>
              <a:t>EVIDENCE FOR THE FIX</a:t>
            </a:r>
            <a:endParaRPr lang="en-US" sz="1100" dirty="0"/>
          </a:p>
        </p:txBody>
      </p:sp>
      <p:sp>
        <p:nvSpPr>
          <p:cNvPr id="11" name="Text 9"/>
          <p:cNvSpPr/>
          <p:nvPr/>
        </p:nvSpPr>
        <p:spPr>
          <a:xfrm>
            <a:off x="548640" y="5266944"/>
            <a:ext cx="5074920" cy="1143000"/>
          </a:xfrm>
          <a:prstGeom prst="rect">
            <a:avLst/>
          </a:prstGeom>
          <a:noFill/>
          <a:ln/>
        </p:spPr>
        <p:txBody>
          <a:bodyPr wrap="square" lIns="0" tIns="0" rIns="0" bIns="0" rtlCol="0" anchor="ctr"/>
          <a:lstStyle/>
          <a:p>
            <a:pPr marL="342900" indent="-342900">
              <a:lnSpc>
                <a:spcPct val="12000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Educational Research Review — combined real+virtual (2024)</a:t>
            </a:r>
            <a:endParaRPr lang="en-US" sz="1050" dirty="0"/>
          </a:p>
          <a:p>
            <a:pPr marL="342900" indent="-342900">
              <a:lnSpc>
                <a:spcPct val="12000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iJOE PhET meta-analysis (2024)</a:t>
            </a:r>
            <a:endParaRPr lang="en-US" sz="1050" dirty="0"/>
          </a:p>
          <a:p>
            <a:pPr marL="342900" indent="-342900">
              <a:lnSpc>
                <a:spcPct val="12000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PhET (UC Boulder) · Concord Consortium</a:t>
            </a:r>
            <a:endParaRPr lang="en-US" sz="1050" dirty="0"/>
          </a:p>
        </p:txBody>
      </p:sp>
      <p:sp>
        <p:nvSpPr>
          <p:cNvPr id="12" name="Text 10"/>
          <p:cNvSpPr/>
          <p:nvPr/>
        </p:nvSpPr>
        <p:spPr>
          <a:xfrm>
            <a:off x="5989320" y="2011680"/>
            <a:ext cx="5074920" cy="274320"/>
          </a:xfrm>
          <a:prstGeom prst="rect">
            <a:avLst/>
          </a:prstGeom>
          <a:noFill/>
          <a:ln/>
        </p:spPr>
        <p:txBody>
          <a:bodyPr wrap="square" lIns="0" tIns="0" rIns="0" bIns="0" rtlCol="0" anchor="ctr"/>
          <a:lstStyle/>
          <a:p>
            <a:pPr indent="0" marL="0">
              <a:buNone/>
            </a:pPr>
            <a:r>
              <a:rPr lang="en-US" sz="1100" b="1" spc="100" kern="0" dirty="0">
                <a:solidFill>
                  <a:srgbClr val="1F4A2E"/>
                </a:solidFill>
                <a:latin typeface="Calibri" pitchFamily="34" charset="0"/>
                <a:ea typeface="Calibri" pitchFamily="34" charset="-122"/>
                <a:cs typeface="Calibri" pitchFamily="34" charset="-120"/>
              </a:rPr>
              <a:t>OPEN-SOURCE EQUITY</a:t>
            </a:r>
            <a:endParaRPr lang="en-US" sz="1100" dirty="0"/>
          </a:p>
        </p:txBody>
      </p:sp>
      <p:sp>
        <p:nvSpPr>
          <p:cNvPr id="13" name="Text 11"/>
          <p:cNvSpPr/>
          <p:nvPr/>
        </p:nvSpPr>
        <p:spPr>
          <a:xfrm>
            <a:off x="5989320" y="2304288"/>
            <a:ext cx="5074920" cy="1143000"/>
          </a:xfrm>
          <a:prstGeom prst="rect">
            <a:avLst/>
          </a:prstGeom>
          <a:noFill/>
          <a:ln/>
        </p:spPr>
        <p:txBody>
          <a:bodyPr wrap="square" lIns="0" tIns="0" rIns="0" bIns="0" rtlCol="0" anchor="ctr"/>
          <a:lstStyle/>
          <a:p>
            <a:pPr marL="342900" indent="-342900">
              <a:lnSpc>
                <a:spcPct val="12000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Hilton, OER synthesis, 121,168 students (2019)</a:t>
            </a:r>
            <a:endParaRPr lang="en-US" sz="1050" dirty="0"/>
          </a:p>
          <a:p>
            <a:pPr marL="342900" indent="-342900">
              <a:lnSpc>
                <a:spcPct val="12000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SRI / Achieving the Dream OER-degree study</a:t>
            </a:r>
            <a:endParaRPr lang="en-US" sz="1050" dirty="0"/>
          </a:p>
        </p:txBody>
      </p:sp>
      <p:sp>
        <p:nvSpPr>
          <p:cNvPr id="14" name="Text 12"/>
          <p:cNvSpPr/>
          <p:nvPr/>
        </p:nvSpPr>
        <p:spPr>
          <a:xfrm>
            <a:off x="5989320" y="3493008"/>
            <a:ext cx="5074920" cy="274320"/>
          </a:xfrm>
          <a:prstGeom prst="rect">
            <a:avLst/>
          </a:prstGeom>
          <a:noFill/>
          <a:ln/>
        </p:spPr>
        <p:txBody>
          <a:bodyPr wrap="square" lIns="0" tIns="0" rIns="0" bIns="0" rtlCol="0" anchor="ctr"/>
          <a:lstStyle/>
          <a:p>
            <a:pPr indent="0" marL="0">
              <a:buNone/>
            </a:pPr>
            <a:r>
              <a:rPr lang="en-US" sz="1100" b="1" spc="100" kern="0" dirty="0">
                <a:solidFill>
                  <a:srgbClr val="1F4A2E"/>
                </a:solidFill>
                <a:latin typeface="Calibri" pitchFamily="34" charset="0"/>
                <a:ea typeface="Calibri" pitchFamily="34" charset="-122"/>
                <a:cs typeface="Calibri" pitchFamily="34" charset="-120"/>
              </a:rPr>
              <a:t>AGE-APPROPRIATENESS</a:t>
            </a:r>
            <a:endParaRPr lang="en-US" sz="1100" dirty="0"/>
          </a:p>
        </p:txBody>
      </p:sp>
      <p:sp>
        <p:nvSpPr>
          <p:cNvPr id="15" name="Text 13"/>
          <p:cNvSpPr/>
          <p:nvPr/>
        </p:nvSpPr>
        <p:spPr>
          <a:xfrm>
            <a:off x="5989320" y="3785616"/>
            <a:ext cx="5074920" cy="1143000"/>
          </a:xfrm>
          <a:prstGeom prst="rect">
            <a:avLst/>
          </a:prstGeom>
          <a:noFill/>
          <a:ln/>
        </p:spPr>
        <p:txBody>
          <a:bodyPr wrap="square" lIns="0" tIns="0" rIns="0" bIns="0" rtlCol="0" anchor="ctr"/>
          <a:lstStyle/>
          <a:p>
            <a:pPr marL="342900" indent="-342900">
              <a:lnSpc>
                <a:spcPct val="12000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Fyfe, McNeil, Son &amp; Goldstone — concreteness fading (2014)</a:t>
            </a:r>
            <a:endParaRPr lang="en-US" sz="1050" dirty="0"/>
          </a:p>
          <a:p>
            <a:pPr marL="342900" indent="-342900">
              <a:lnSpc>
                <a:spcPct val="120000"/>
              </a:lnSpc>
              <a:spcAft>
                <a:spcPts val="300"/>
              </a:spcAft>
              <a:buSzPct val="100000"/>
              <a:buChar char="•"/>
            </a:pPr>
            <a:r>
              <a:rPr lang="en-US" sz="1050" dirty="0">
                <a:solidFill>
                  <a:srgbClr val="1A1A1A"/>
                </a:solidFill>
                <a:latin typeface="Calibri" pitchFamily="34" charset="0"/>
                <a:ea typeface="Calibri" pitchFamily="34" charset="-122"/>
                <a:cs typeface="Calibri" pitchFamily="34" charset="-120"/>
              </a:rPr>
              <a:t>Piagetian concrete-to-formal transition, ages 11–14</a:t>
            </a:r>
            <a:endParaRPr lang="en-US" sz="1050" dirty="0"/>
          </a:p>
        </p:txBody>
      </p:sp>
      <p:sp>
        <p:nvSpPr>
          <p:cNvPr id="16" name="Text 14"/>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6B6B63"/>
                </a:solidFill>
                <a:latin typeface="Calibri" pitchFamily="34" charset="0"/>
                <a:ea typeface="Calibri" pitchFamily="34" charset="-122"/>
                <a:cs typeface="Calibri" pitchFamily="34" charset="-120"/>
              </a:rPr>
              <a:t>12 / 14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268712" y="384048"/>
            <a:ext cx="1371600" cy="384048"/>
          </a:xfrm>
          <a:prstGeom prst="roundRect">
            <a:avLst>
              <a:gd name="adj" fmla="val 19048"/>
            </a:avLst>
          </a:prstGeom>
          <a:solidFill>
            <a:srgbClr val="1A1A1A"/>
          </a:solidFill>
          <a:ln/>
        </p:spPr>
      </p:sp>
      <p:sp>
        <p:nvSpPr>
          <p:cNvPr id="3" name="Text 1"/>
          <p:cNvSpPr/>
          <p:nvPr/>
        </p:nvSpPr>
        <p:spPr>
          <a:xfrm>
            <a:off x="10268712" y="384048"/>
            <a:ext cx="1371600" cy="38404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4" name="Text 2"/>
          <p:cNvSpPr/>
          <p:nvPr/>
        </p:nvSpPr>
        <p:spPr>
          <a:xfrm>
            <a:off x="548640" y="502920"/>
            <a:ext cx="8229600" cy="365760"/>
          </a:xfrm>
          <a:prstGeom prst="rect">
            <a:avLst/>
          </a:prstGeom>
          <a:noFill/>
          <a:ln/>
        </p:spPr>
        <p:txBody>
          <a:bodyPr wrap="square" lIns="0" tIns="0" rIns="0" bIns="0" rtlCol="0" anchor="ctr"/>
          <a:lstStyle/>
          <a:p>
            <a:pPr indent="0" marL="0">
              <a:buNone/>
            </a:pPr>
            <a:r>
              <a:rPr lang="en-US" sz="1300" b="1" spc="200" kern="0" dirty="0">
                <a:solidFill>
                  <a:srgbClr val="6B6B63"/>
                </a:solidFill>
                <a:latin typeface="Calibri" pitchFamily="34" charset="0"/>
                <a:ea typeface="Calibri" pitchFamily="34" charset="-122"/>
                <a:cs typeface="Calibri" pitchFamily="34" charset="-120"/>
              </a:rPr>
              <a:t>APPENDIX — FOR Q&amp;A ONLY</a:t>
            </a:r>
            <a:endParaRPr lang="en-US" sz="1300" dirty="0"/>
          </a:p>
        </p:txBody>
      </p:sp>
      <p:sp>
        <p:nvSpPr>
          <p:cNvPr id="5" name="Text 3"/>
          <p:cNvSpPr/>
          <p:nvPr/>
        </p:nvSpPr>
        <p:spPr>
          <a:xfrm>
            <a:off x="548640" y="841248"/>
            <a:ext cx="9692640" cy="914400"/>
          </a:xfrm>
          <a:prstGeom prst="rect">
            <a:avLst/>
          </a:prstGeom>
          <a:noFill/>
          <a:ln/>
        </p:spPr>
        <p:txBody>
          <a:bodyPr wrap="square" lIns="0" tIns="0" rIns="0" bIns="0" rtlCol="0" anchor="ctr"/>
          <a:lstStyle/>
          <a:p>
            <a:pPr indent="0" marL="0">
              <a:lnSpc>
                <a:spcPct val="102000"/>
              </a:lnSpc>
              <a:buNone/>
            </a:pPr>
            <a:r>
              <a:rPr lang="en-US" sz="3000" b="1" dirty="0">
                <a:solidFill>
                  <a:srgbClr val="1A1A1A"/>
                </a:solidFill>
                <a:latin typeface="Cambria" pitchFamily="34" charset="0"/>
                <a:ea typeface="Cambria" pitchFamily="34" charset="-122"/>
                <a:cs typeface="Cambria" pitchFamily="34" charset="-120"/>
              </a:rPr>
              <a:t>The numbers, together.</a:t>
            </a:r>
            <a:endParaRPr lang="en-US" sz="3000" dirty="0"/>
          </a:p>
        </p:txBody>
      </p:sp>
      <p:sp>
        <p:nvSpPr>
          <p:cNvPr id="6" name="Shape 4"/>
          <p:cNvSpPr/>
          <p:nvPr/>
        </p:nvSpPr>
        <p:spPr>
          <a:xfrm>
            <a:off x="548640" y="2286000"/>
            <a:ext cx="5120640" cy="2834640"/>
          </a:xfrm>
          <a:prstGeom prst="roundRect">
            <a:avLst>
              <a:gd name="adj" fmla="val 3226"/>
            </a:avLst>
          </a:prstGeom>
          <a:solidFill>
            <a:srgbClr val="1F4A2E"/>
          </a:solidFill>
          <a:ln/>
        </p:spPr>
      </p:sp>
      <p:sp>
        <p:nvSpPr>
          <p:cNvPr id="7" name="Text 5"/>
          <p:cNvSpPr/>
          <p:nvPr/>
        </p:nvSpPr>
        <p:spPr>
          <a:xfrm>
            <a:off x="868680" y="2651760"/>
            <a:ext cx="448056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1,599 / 158</a:t>
            </a:r>
            <a:endParaRPr lang="en-US" sz="3600" dirty="0"/>
          </a:p>
        </p:txBody>
      </p:sp>
      <p:sp>
        <p:nvSpPr>
          <p:cNvPr id="8" name="Text 6"/>
          <p:cNvSpPr/>
          <p:nvPr/>
        </p:nvSpPr>
        <p:spPr>
          <a:xfrm>
            <a:off x="868680" y="3566160"/>
            <a:ext cx="4480560" cy="1097280"/>
          </a:xfrm>
          <a:prstGeom prst="rect">
            <a:avLst/>
          </a:prstGeom>
          <a:noFill/>
          <a:ln/>
        </p:spPr>
        <p:txBody>
          <a:bodyPr wrap="square" lIns="0" tIns="0" rIns="0" bIns="0" rtlCol="0" anchor="ctr"/>
          <a:lstStyle/>
          <a:p>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students / afterschool STEM programs studied — 65–85% reported engagement gains, all attitude measures rather than conceptual ones</a:t>
            </a:r>
            <a:endParaRPr lang="en-US" sz="1350" dirty="0"/>
          </a:p>
        </p:txBody>
      </p:sp>
      <p:sp>
        <p:nvSpPr>
          <p:cNvPr id="9" name="Text 7"/>
          <p:cNvSpPr/>
          <p:nvPr/>
        </p:nvSpPr>
        <p:spPr>
          <a:xfrm>
            <a:off x="868680" y="4663440"/>
            <a:ext cx="4480560" cy="320040"/>
          </a:xfrm>
          <a:prstGeom prst="rect">
            <a:avLst/>
          </a:prstGeom>
          <a:noFill/>
          <a:ln/>
        </p:spPr>
        <p:txBody>
          <a:bodyPr wrap="square" lIns="0" tIns="0" rIns="0" bIns="0" rtlCol="0" anchor="ctr"/>
          <a:lstStyle/>
          <a:p>
            <a:pPr indent="0" marL="0">
              <a:buNone/>
            </a:pPr>
            <a:r>
              <a:rPr lang="en-US" sz="1050" i="1" dirty="0">
                <a:solidFill>
                  <a:srgbClr val="F0EDE4"/>
                </a:solidFill>
                <a:latin typeface="Calibri" pitchFamily="34" charset="0"/>
                <a:ea typeface="Calibri" pitchFamily="34" charset="-122"/>
                <a:cs typeface="Calibri" pitchFamily="34" charset="-120"/>
              </a:rPr>
              <a:t>Allen et al., 2019</a:t>
            </a:r>
            <a:endParaRPr lang="en-US" sz="1050" dirty="0"/>
          </a:p>
        </p:txBody>
      </p:sp>
      <p:sp>
        <p:nvSpPr>
          <p:cNvPr id="10" name="Shape 8"/>
          <p:cNvSpPr/>
          <p:nvPr/>
        </p:nvSpPr>
        <p:spPr>
          <a:xfrm>
            <a:off x="5943600" y="2286000"/>
            <a:ext cx="5120640" cy="2834640"/>
          </a:xfrm>
          <a:prstGeom prst="roundRect">
            <a:avLst>
              <a:gd name="adj" fmla="val 3226"/>
            </a:avLst>
          </a:prstGeom>
          <a:solidFill>
            <a:srgbClr val="D97706"/>
          </a:solidFill>
          <a:ln/>
        </p:spPr>
      </p:sp>
      <p:sp>
        <p:nvSpPr>
          <p:cNvPr id="11" name="Text 9"/>
          <p:cNvSpPr/>
          <p:nvPr/>
        </p:nvSpPr>
        <p:spPr>
          <a:xfrm>
            <a:off x="6263640" y="2651760"/>
            <a:ext cx="448056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g = 0.587</a:t>
            </a:r>
            <a:endParaRPr lang="en-US" sz="3600" dirty="0"/>
          </a:p>
        </p:txBody>
      </p:sp>
      <p:sp>
        <p:nvSpPr>
          <p:cNvPr id="12" name="Text 10"/>
          <p:cNvSpPr/>
          <p:nvPr/>
        </p:nvSpPr>
        <p:spPr>
          <a:xfrm>
            <a:off x="6263640" y="3566160"/>
            <a:ext cx="4480560" cy="1097280"/>
          </a:xfrm>
          <a:prstGeom prst="rect">
            <a:avLst/>
          </a:prstGeom>
          <a:noFill/>
          <a:ln/>
        </p:spPr>
        <p:txBody>
          <a:bodyPr wrap="square" lIns="0" tIns="0" rIns="0" bIns="0" rtlCol="0" anchor="ctr"/>
          <a:lstStyle/>
          <a:p>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medium effect size for virtual labs on achievement — broader than PhET alone; larger for secondary students (0.689) than undergraduates</a:t>
            </a:r>
            <a:endParaRPr lang="en-US" sz="1350" dirty="0"/>
          </a:p>
        </p:txBody>
      </p:sp>
      <p:sp>
        <p:nvSpPr>
          <p:cNvPr id="13" name="Text 11"/>
          <p:cNvSpPr/>
          <p:nvPr/>
        </p:nvSpPr>
        <p:spPr>
          <a:xfrm>
            <a:off x="6263640" y="4663440"/>
            <a:ext cx="4480560" cy="320040"/>
          </a:xfrm>
          <a:prstGeom prst="rect">
            <a:avLst/>
          </a:prstGeom>
          <a:noFill/>
          <a:ln/>
        </p:spPr>
        <p:txBody>
          <a:bodyPr wrap="square" lIns="0" tIns="0" rIns="0" bIns="0" rtlCol="0" anchor="ctr"/>
          <a:lstStyle/>
          <a:p>
            <a:pPr indent="0" marL="0">
              <a:buNone/>
            </a:pPr>
            <a:r>
              <a:rPr lang="en-US" sz="1050" i="1" dirty="0">
                <a:solidFill>
                  <a:srgbClr val="F0EDE4"/>
                </a:solidFill>
                <a:latin typeface="Calibri" pitchFamily="34" charset="0"/>
                <a:ea typeface="Calibri" pitchFamily="34" charset="-122"/>
                <a:cs typeface="Calibri" pitchFamily="34" charset="-120"/>
              </a:rPr>
              <a:t>IJIET meta-analysis, 2022</a:t>
            </a:r>
            <a:endParaRPr lang="en-US" sz="1050" dirty="0"/>
          </a:p>
        </p:txBody>
      </p:sp>
      <p:sp>
        <p:nvSpPr>
          <p:cNvPr id="14" name="Text 12"/>
          <p:cNvSpPr/>
          <p:nvPr/>
        </p:nvSpPr>
        <p:spPr>
          <a:xfrm>
            <a:off x="548640" y="6355080"/>
            <a:ext cx="9601200" cy="320040"/>
          </a:xfrm>
          <a:prstGeom prst="rect">
            <a:avLst/>
          </a:prstGeom>
          <a:noFill/>
          <a:ln/>
        </p:spPr>
        <p:txBody>
          <a:bodyPr wrap="square" lIns="0" tIns="0" rIns="0" bIns="0" rtlCol="0" anchor="ctr"/>
          <a:lstStyle/>
          <a:p>
            <a:pPr indent="0" marL="0">
              <a:buNone/>
            </a:pPr>
            <a:r>
              <a:rPr lang="en-US" sz="1000" i="1" dirty="0">
                <a:solidFill>
                  <a:srgbClr val="6B6B63"/>
                </a:solidFill>
                <a:latin typeface="Calibri" pitchFamily="34" charset="0"/>
                <a:ea typeface="Calibri" pitchFamily="34" charset="-122"/>
                <a:cs typeface="Calibri" pitchFamily="34" charset="-120"/>
              </a:rPr>
              <a:t>Every other number used live already appeared on Slides 3, 4, 5, or 9.</a:t>
            </a:r>
            <a:endParaRPr lang="en-US" sz="1000" dirty="0"/>
          </a:p>
        </p:txBody>
      </p:sp>
      <p:sp>
        <p:nvSpPr>
          <p:cNvPr id="15" name="Text 13"/>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6B6B63"/>
                </a:solidFill>
                <a:latin typeface="Calibri" pitchFamily="34" charset="0"/>
                <a:ea typeface="Calibri" pitchFamily="34" charset="-122"/>
                <a:cs typeface="Calibri" pitchFamily="34" charset="-120"/>
              </a:rPr>
              <a:t>13 / 14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268712" y="384048"/>
            <a:ext cx="1371600" cy="384048"/>
          </a:xfrm>
          <a:prstGeom prst="roundRect">
            <a:avLst>
              <a:gd name="adj" fmla="val 19048"/>
            </a:avLst>
          </a:prstGeom>
          <a:solidFill>
            <a:srgbClr val="1A1A1A"/>
          </a:solidFill>
          <a:ln/>
        </p:spPr>
      </p:sp>
      <p:sp>
        <p:nvSpPr>
          <p:cNvPr id="3" name="Text 1"/>
          <p:cNvSpPr/>
          <p:nvPr/>
        </p:nvSpPr>
        <p:spPr>
          <a:xfrm>
            <a:off x="10268712" y="384048"/>
            <a:ext cx="1371600" cy="38404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4" name="Text 2"/>
          <p:cNvSpPr/>
          <p:nvPr/>
        </p:nvSpPr>
        <p:spPr>
          <a:xfrm>
            <a:off x="548640" y="502920"/>
            <a:ext cx="8229600" cy="365760"/>
          </a:xfrm>
          <a:prstGeom prst="rect">
            <a:avLst/>
          </a:prstGeom>
          <a:noFill/>
          <a:ln/>
        </p:spPr>
        <p:txBody>
          <a:bodyPr wrap="square" lIns="0" tIns="0" rIns="0" bIns="0" rtlCol="0" anchor="ctr"/>
          <a:lstStyle/>
          <a:p>
            <a:pPr indent="0" marL="0">
              <a:buNone/>
            </a:pPr>
            <a:r>
              <a:rPr lang="en-US" sz="1300" b="1" spc="200" kern="0" dirty="0">
                <a:solidFill>
                  <a:srgbClr val="6B6B63"/>
                </a:solidFill>
                <a:latin typeface="Calibri" pitchFamily="34" charset="0"/>
                <a:ea typeface="Calibri" pitchFamily="34" charset="-122"/>
                <a:cs typeface="Calibri" pitchFamily="34" charset="-120"/>
              </a:rPr>
              <a:t>APPENDIX — FOR Q&amp;A ONLY</a:t>
            </a:r>
            <a:endParaRPr lang="en-US" sz="1300" dirty="0"/>
          </a:p>
        </p:txBody>
      </p:sp>
      <p:sp>
        <p:nvSpPr>
          <p:cNvPr id="5" name="Text 3"/>
          <p:cNvSpPr/>
          <p:nvPr/>
        </p:nvSpPr>
        <p:spPr>
          <a:xfrm>
            <a:off x="548640" y="841248"/>
            <a:ext cx="9692640" cy="914400"/>
          </a:xfrm>
          <a:prstGeom prst="rect">
            <a:avLst/>
          </a:prstGeom>
          <a:noFill/>
          <a:ln/>
        </p:spPr>
        <p:txBody>
          <a:bodyPr wrap="square" lIns="0" tIns="0" rIns="0" bIns="0" rtlCol="0" anchor="ctr"/>
          <a:lstStyle/>
          <a:p>
            <a:pPr indent="0" marL="0">
              <a:lnSpc>
                <a:spcPct val="102000"/>
              </a:lnSpc>
              <a:buNone/>
            </a:pPr>
            <a:r>
              <a:rPr lang="en-US" sz="3000" b="1" dirty="0">
                <a:solidFill>
                  <a:srgbClr val="1A1A1A"/>
                </a:solidFill>
                <a:latin typeface="Cambria" pitchFamily="34" charset="0"/>
                <a:ea typeface="Cambria" pitchFamily="34" charset="-122"/>
                <a:cs typeface="Cambria" pitchFamily="34" charset="-120"/>
              </a:rPr>
              <a:t>What's next.</a:t>
            </a:r>
            <a:endParaRPr lang="en-US" sz="3000" dirty="0"/>
          </a:p>
        </p:txBody>
      </p:sp>
      <p:sp>
        <p:nvSpPr>
          <p:cNvPr id="6" name="Shape 4"/>
          <p:cNvSpPr/>
          <p:nvPr/>
        </p:nvSpPr>
        <p:spPr>
          <a:xfrm>
            <a:off x="548640" y="1783080"/>
            <a:ext cx="10515600" cy="502920"/>
          </a:xfrm>
          <a:prstGeom prst="roundRect">
            <a:avLst>
              <a:gd name="adj" fmla="val 14545"/>
            </a:avLst>
          </a:prstGeom>
          <a:solidFill>
            <a:srgbClr val="D97706"/>
          </a:solidFill>
          <a:ln/>
        </p:spPr>
      </p:sp>
      <p:sp>
        <p:nvSpPr>
          <p:cNvPr id="7" name="Text 5"/>
          <p:cNvSpPr/>
          <p:nvPr/>
        </p:nvSpPr>
        <p:spPr>
          <a:xfrm>
            <a:off x="777240" y="1783080"/>
            <a:ext cx="10058400" cy="502920"/>
          </a:xfrm>
          <a:prstGeom prst="rect">
            <a:avLst/>
          </a:prstGeom>
          <a:noFill/>
          <a:ln/>
        </p:spPr>
        <p:txBody>
          <a:bodyPr wrap="square" lIns="0" tIns="0" rIns="0" bIns="0" rtlCol="0" anchor="ctr"/>
          <a:lstStyle/>
          <a:p>
            <a:pPr indent="0" marL="0">
              <a:buNone/>
            </a:pPr>
            <a:r>
              <a:rPr lang="en-US" sz="1200" b="1" spc="50" kern="0" dirty="0">
                <a:solidFill>
                  <a:srgbClr val="FFFFFF"/>
                </a:solidFill>
                <a:latin typeface="Calibri" pitchFamily="34" charset="0"/>
                <a:ea typeface="Calibri" pitchFamily="34" charset="-122"/>
                <a:cs typeface="Calibri" pitchFamily="34" charset="-120"/>
              </a:rPr>
              <a:t>⚠  TEMPLATE — REPLACE ALL FOUR ANSWERS BELOW BEFORE PRESENTING, OR DELETE THIS SLIDE</a:t>
            </a:r>
            <a:endParaRPr lang="en-US" sz="1200" dirty="0"/>
          </a:p>
        </p:txBody>
      </p:sp>
      <p:sp>
        <p:nvSpPr>
          <p:cNvPr id="8" name="Shape 6"/>
          <p:cNvSpPr/>
          <p:nvPr/>
        </p:nvSpPr>
        <p:spPr>
          <a:xfrm>
            <a:off x="548640" y="2514600"/>
            <a:ext cx="5074920" cy="1691640"/>
          </a:xfrm>
          <a:prstGeom prst="roundRect">
            <a:avLst>
              <a:gd name="adj" fmla="val 5405"/>
            </a:avLst>
          </a:prstGeom>
          <a:solidFill>
            <a:srgbClr val="F4F1E8"/>
          </a:solidFill>
          <a:ln/>
        </p:spPr>
      </p:sp>
      <p:sp>
        <p:nvSpPr>
          <p:cNvPr id="9" name="Text 7"/>
          <p:cNvSpPr/>
          <p:nvPr/>
        </p:nvSpPr>
        <p:spPr>
          <a:xfrm>
            <a:off x="804672" y="2679192"/>
            <a:ext cx="4562856" cy="45720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Have you tested this with real students yet?</a:t>
            </a:r>
            <a:endParaRPr lang="en-US" sz="1350" dirty="0"/>
          </a:p>
        </p:txBody>
      </p:sp>
      <p:sp>
        <p:nvSpPr>
          <p:cNvPr id="10" name="Text 8"/>
          <p:cNvSpPr/>
          <p:nvPr/>
        </p:nvSpPr>
        <p:spPr>
          <a:xfrm>
            <a:off x="804672" y="3154680"/>
            <a:ext cx="4562856" cy="914400"/>
          </a:xfrm>
          <a:prstGeom prst="rect">
            <a:avLst/>
          </a:prstGeom>
          <a:noFill/>
          <a:ln/>
        </p:spPr>
        <p:txBody>
          <a:bodyPr wrap="square" lIns="0" tIns="0" rIns="0" bIns="0" rtlCol="0" anchor="ctr"/>
          <a:lstStyle/>
          <a:p>
            <a:pPr indent="0" marL="0">
              <a:lnSpc>
                <a:spcPct val="122000"/>
              </a:lnSpc>
              <a:buNone/>
            </a:pPr>
            <a:r>
              <a:rPr lang="en-US" sz="1100" i="1" dirty="0">
                <a:solidFill>
                  <a:srgbClr val="6B6B63"/>
                </a:solidFill>
                <a:latin typeface="Calibri" pitchFamily="34" charset="0"/>
                <a:ea typeface="Calibri" pitchFamily="34" charset="-122"/>
                <a:cs typeface="Calibri" pitchFamily="34" charset="-120"/>
              </a:rPr>
              <a:t>Your honest answer. Even informal observation beats any citation. If you haven't — say so plainly and pivot to the research plus the working build.</a:t>
            </a:r>
            <a:endParaRPr lang="en-US" sz="1100" dirty="0"/>
          </a:p>
        </p:txBody>
      </p:sp>
      <p:sp>
        <p:nvSpPr>
          <p:cNvPr id="11" name="Shape 9"/>
          <p:cNvSpPr/>
          <p:nvPr/>
        </p:nvSpPr>
        <p:spPr>
          <a:xfrm>
            <a:off x="5989320" y="2514600"/>
            <a:ext cx="5074920" cy="1691640"/>
          </a:xfrm>
          <a:prstGeom prst="roundRect">
            <a:avLst>
              <a:gd name="adj" fmla="val 5405"/>
            </a:avLst>
          </a:prstGeom>
          <a:solidFill>
            <a:srgbClr val="F4F1E8"/>
          </a:solidFill>
          <a:ln/>
        </p:spPr>
      </p:sp>
      <p:sp>
        <p:nvSpPr>
          <p:cNvPr id="12" name="Text 10"/>
          <p:cNvSpPr/>
          <p:nvPr/>
        </p:nvSpPr>
        <p:spPr>
          <a:xfrm>
            <a:off x="6245352" y="2679192"/>
            <a:ext cx="4562856" cy="45720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How will you measure whether it works?</a:t>
            </a:r>
            <a:endParaRPr lang="en-US" sz="1350" dirty="0"/>
          </a:p>
        </p:txBody>
      </p:sp>
      <p:sp>
        <p:nvSpPr>
          <p:cNvPr id="13" name="Text 11"/>
          <p:cNvSpPr/>
          <p:nvPr/>
        </p:nvSpPr>
        <p:spPr>
          <a:xfrm>
            <a:off x="6245352" y="3154680"/>
            <a:ext cx="4562856" cy="914400"/>
          </a:xfrm>
          <a:prstGeom prst="rect">
            <a:avLst/>
          </a:prstGeom>
          <a:noFill/>
          <a:ln/>
        </p:spPr>
        <p:txBody>
          <a:bodyPr wrap="square" lIns="0" tIns="0" rIns="0" bIns="0" rtlCol="0" anchor="ctr"/>
          <a:lstStyle/>
          <a:p>
            <a:pPr indent="0" marL="0">
              <a:lnSpc>
                <a:spcPct val="122000"/>
              </a:lnSpc>
              <a:buNone/>
            </a:pPr>
            <a:r>
              <a:rPr lang="en-US" sz="1100" i="1" dirty="0">
                <a:solidFill>
                  <a:srgbClr val="6B6B63"/>
                </a:solidFill>
                <a:latin typeface="Calibri" pitchFamily="34" charset="0"/>
                <a:ea typeface="Calibri" pitchFamily="34" charset="-122"/>
                <a:cs typeface="Calibri" pitchFamily="34" charset="-120"/>
              </a:rPr>
              <a:t>Even a minimal plan counts — e.g. a one-question predict-then-check prompt before and after each sim.</a:t>
            </a:r>
            <a:endParaRPr lang="en-US" sz="1100" dirty="0"/>
          </a:p>
        </p:txBody>
      </p:sp>
      <p:sp>
        <p:nvSpPr>
          <p:cNvPr id="14" name="Shape 12"/>
          <p:cNvSpPr/>
          <p:nvPr/>
        </p:nvSpPr>
        <p:spPr>
          <a:xfrm>
            <a:off x="548640" y="4434840"/>
            <a:ext cx="5074920" cy="1691640"/>
          </a:xfrm>
          <a:prstGeom prst="roundRect">
            <a:avLst>
              <a:gd name="adj" fmla="val 5405"/>
            </a:avLst>
          </a:prstGeom>
          <a:solidFill>
            <a:srgbClr val="F4F1E8"/>
          </a:solidFill>
          <a:ln/>
        </p:spPr>
      </p:sp>
      <p:sp>
        <p:nvSpPr>
          <p:cNvPr id="15" name="Text 13"/>
          <p:cNvSpPr/>
          <p:nvPr/>
        </p:nvSpPr>
        <p:spPr>
          <a:xfrm>
            <a:off x="804672" y="4599432"/>
            <a:ext cx="4562856" cy="45720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What did this cost in time and effort?</a:t>
            </a:r>
            <a:endParaRPr lang="en-US" sz="1350" dirty="0"/>
          </a:p>
        </p:txBody>
      </p:sp>
      <p:sp>
        <p:nvSpPr>
          <p:cNvPr id="16" name="Text 14"/>
          <p:cNvSpPr/>
          <p:nvPr/>
        </p:nvSpPr>
        <p:spPr>
          <a:xfrm>
            <a:off x="804672" y="5074920"/>
            <a:ext cx="4562856" cy="914400"/>
          </a:xfrm>
          <a:prstGeom prst="rect">
            <a:avLst/>
          </a:prstGeom>
          <a:noFill/>
          <a:ln/>
        </p:spPr>
        <p:txBody>
          <a:bodyPr wrap="square" lIns="0" tIns="0" rIns="0" bIns="0" rtlCol="0" anchor="ctr"/>
          <a:lstStyle/>
          <a:p>
            <a:pPr indent="0" marL="0">
              <a:lnSpc>
                <a:spcPct val="122000"/>
              </a:lnSpc>
              <a:buNone/>
            </a:pPr>
            <a:r>
              <a:rPr lang="en-US" sz="1100" i="1" dirty="0">
                <a:solidFill>
                  <a:srgbClr val="6B6B63"/>
                </a:solidFill>
                <a:latin typeface="Calibri" pitchFamily="34" charset="0"/>
                <a:ea typeface="Calibri" pitchFamily="34" charset="-122"/>
                <a:cs typeface="Calibri" pitchFamily="34" charset="-120"/>
              </a:rPr>
              <a:t>Have a real number ready. “A few weekends” is fine if it's true.</a:t>
            </a:r>
            <a:endParaRPr lang="en-US" sz="1100" dirty="0"/>
          </a:p>
        </p:txBody>
      </p:sp>
      <p:sp>
        <p:nvSpPr>
          <p:cNvPr id="17" name="Shape 15"/>
          <p:cNvSpPr/>
          <p:nvPr/>
        </p:nvSpPr>
        <p:spPr>
          <a:xfrm>
            <a:off x="5989320" y="4434840"/>
            <a:ext cx="5074920" cy="1691640"/>
          </a:xfrm>
          <a:prstGeom prst="roundRect">
            <a:avLst>
              <a:gd name="adj" fmla="val 5405"/>
            </a:avLst>
          </a:prstGeom>
          <a:solidFill>
            <a:srgbClr val="F4F1E8"/>
          </a:solidFill>
          <a:ln/>
        </p:spPr>
      </p:sp>
      <p:sp>
        <p:nvSpPr>
          <p:cNvPr id="18" name="Text 16"/>
          <p:cNvSpPr/>
          <p:nvPr/>
        </p:nvSpPr>
        <p:spPr>
          <a:xfrm>
            <a:off x="6245352" y="4599432"/>
            <a:ext cx="4562856" cy="45720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What happens after this competition?</a:t>
            </a:r>
            <a:endParaRPr lang="en-US" sz="1350" dirty="0"/>
          </a:p>
        </p:txBody>
      </p:sp>
      <p:sp>
        <p:nvSpPr>
          <p:cNvPr id="19" name="Text 17"/>
          <p:cNvSpPr/>
          <p:nvPr/>
        </p:nvSpPr>
        <p:spPr>
          <a:xfrm>
            <a:off x="6245352" y="5074920"/>
            <a:ext cx="4562856" cy="914400"/>
          </a:xfrm>
          <a:prstGeom prst="rect">
            <a:avLst/>
          </a:prstGeom>
          <a:noFill/>
          <a:ln/>
        </p:spPr>
        <p:txBody>
          <a:bodyPr wrap="square" lIns="0" tIns="0" rIns="0" bIns="0" rtlCol="0" anchor="ctr"/>
          <a:lstStyle/>
          <a:p>
            <a:pPr indent="0" marL="0">
              <a:lnSpc>
                <a:spcPct val="122000"/>
              </a:lnSpc>
              <a:buNone/>
            </a:pPr>
            <a:r>
              <a:rPr lang="en-US" sz="1100" i="1" dirty="0">
                <a:solidFill>
                  <a:srgbClr val="6B6B63"/>
                </a:solidFill>
                <a:latin typeface="Calibri" pitchFamily="34" charset="0"/>
                <a:ea typeface="Calibri" pitchFamily="34" charset="-122"/>
                <a:cs typeface="Calibri" pitchFamily="34" charset="-120"/>
              </a:rPr>
              <a:t>Rollout order for remaining sims, and whether you'll pitch this to other chapters.</a:t>
            </a:r>
            <a:endParaRPr lang="en-US" sz="1100" dirty="0"/>
          </a:p>
        </p:txBody>
      </p:sp>
      <p:sp>
        <p:nvSpPr>
          <p:cNvPr id="20" name="Text 18"/>
          <p:cNvSpPr/>
          <p:nvPr/>
        </p:nvSpPr>
        <p:spPr>
          <a:xfrm>
            <a:off x="11183112" y="6400800"/>
            <a:ext cx="731520" cy="274320"/>
          </a:xfrm>
          <a:prstGeom prst="rect">
            <a:avLst/>
          </a:prstGeom>
          <a:noFill/>
          <a:ln/>
        </p:spPr>
        <p:txBody>
          <a:bodyPr wrap="square" lIns="0" tIns="0" rIns="0" bIns="0" rtlCol="0" anchor="ctr"/>
          <a:lstStyle/>
          <a:p>
            <a:pPr algn="r" indent="0" marL="0">
              <a:buNone/>
            </a:pPr>
            <a:r>
              <a:rPr lang="en-US" sz="1000" dirty="0">
                <a:solidFill>
                  <a:srgbClr val="6B6B63"/>
                </a:solidFill>
                <a:latin typeface="Calibri" pitchFamily="34" charset="0"/>
                <a:ea typeface="Calibri" pitchFamily="34" charset="-122"/>
                <a:cs typeface="Calibri" pitchFamily="34" charset="-120"/>
              </a:rPr>
              <a:t>14 / 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2026-08-07T17:46:42Z</dcterms:created>
  <dcterms:modified xsi:type="dcterms:W3CDTF">2026-08-07T17:46:42Z</dcterms:modified>
</cp:coreProperties>
</file>